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embeddedFontLst>
    <p:embeddedFont>
      <p:font typeface="Zhi Mang Xing" pitchFamily="2" charset="-122"/>
      <p:regular r:id="rIdFont1"/>
    </p:embeddedFont>
    <p:embeddedFont>
      <p:font typeface="Ma Shan Zheng" pitchFamily="2" charset="-122"/>
      <p:regular r:id="rIdFont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Font1" Type="http://schemas.openxmlformats.org/officeDocument/2006/relationships/font" Target="fonts/font1.fntdata"/><Relationship Id="rIdFont2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822960"/>
            <a:ext cx="2926080" cy="292608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48640"/>
            <a:ext cx="82296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601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64748B"/>
                </a:solidFill>
                <a:latin typeface="Songti"/>
                <a:ea typeface="Songti"/>
                <a:cs typeface="Songti"/>
              </a:rPr>
              <a:t>智享杯 </a:t>
            </a:r>
            <a:r>
              <a:rPr sz="1300" b="1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300" b="1">
                <a:solidFill>
                  <a:srgbClr val="64748B"/>
                </a:solidFill>
                <a:latin typeface="Songti"/>
                <a:ea typeface="Songti"/>
                <a:cs typeface="Songti"/>
              </a:rPr>
              <a:t>全国大学生经济管理类实验案例分析大赛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000" b="1">
                <a:solidFill>
                  <a:srgbClr val="0F172A"/>
                </a:solidFill>
                <a:latin typeface="Hoefler Text"/>
                <a:ea typeface="Ma Shan Zheng"/>
                <a:cs typeface="Ma Shan Zheng"/>
              </a:rPr>
              <a:t>AI </a:t>
            </a:r>
            <a:r>
              <a:rPr sz="4000" b="1">
                <a:solidFill>
                  <a:srgbClr val="0F172A"/>
                </a:solidFill>
                <a:latin typeface="Ma Shan Zheng"/>
                <a:ea typeface="Ma Shan Zheng"/>
                <a:cs typeface="Ma Shan Zheng"/>
              </a:rPr>
              <a:t>选股信号该配多大仓位？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2563EB"/>
                </a:solidFill>
                <a:latin typeface="Hoefler Text"/>
                <a:ea typeface="Songti"/>
                <a:cs typeface="Songti"/>
              </a:rPr>
              <a:t>——虚拟仿真下的风险预算干预实验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Hoefler Text"/>
                <a:ea typeface="Hoefler Text"/>
                <a:cs typeface="Hoefler Text"/>
              </a:rPr>
              <a:t>How Much Should an AI Signal Buy? A Virtual-Simulation Experiment on Risk-Budget Intervention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77639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23359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Hoefler Text"/>
                <a:ea typeface="Songti"/>
                <a:cs typeface="Songti"/>
              </a:rPr>
              <a:t>实验教学案例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3977639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4023359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Hoefler Text"/>
                <a:ea typeface="Songti"/>
                <a:cs typeface="Songti"/>
              </a:rPr>
              <a:t>数据分析案例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977639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4023359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ongti"/>
                <a:ea typeface="Songti"/>
                <a:cs typeface="Songti"/>
              </a:rPr>
              <a:t>在线 </a:t>
            </a:r>
            <a:r>
              <a:rPr sz="1100" b="1">
                <a:solidFill>
                  <a:srgbClr val="FFFFFF"/>
                </a:solidFill>
                <a:latin typeface="Hoefler Text"/>
                <a:ea typeface="Songti"/>
                <a:cs typeface="Songti"/>
              </a:rPr>
              <a:t>Notebook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77639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4023359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Hoefler Text"/>
                <a:ea typeface="Songti"/>
                <a:cs typeface="Songti"/>
              </a:rPr>
              <a:t>一键复现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006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适用课程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02352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投资学 </a:t>
            </a:r>
            <a:r>
              <a:rPr sz="1200" b="1">
                <a:solidFill>
                  <a:srgbClr val="0F172A"/>
                </a:solidFill>
                <a:latin typeface="Hoefler Text"/>
                <a:ea typeface="Hiragino Sans GB"/>
                <a:cs typeface="Hiragino Sans GB"/>
              </a:rPr>
              <a:t>/ </a:t>
            </a:r>
            <a:r>
              <a:rPr sz="120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量化投资 </a:t>
            </a:r>
            <a:r>
              <a:rPr sz="1200" b="1">
                <a:solidFill>
                  <a:srgbClr val="0F172A"/>
                </a:solidFill>
                <a:latin typeface="Hoefler Text"/>
                <a:ea typeface="Hiragino Sans GB"/>
                <a:cs typeface="Hiragino Sans GB"/>
              </a:rPr>
              <a:t>/ </a:t>
            </a:r>
            <a:r>
              <a:rPr sz="120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金融风险管理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8006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实验形态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5102352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平台在线 </a:t>
            </a:r>
            <a:r>
              <a:rPr sz="1200" b="1">
                <a:solidFill>
                  <a:srgbClr val="0F172A"/>
                </a:solidFill>
                <a:latin typeface="Hoefler Text"/>
                <a:ea typeface="Hiragino Sans GB"/>
                <a:cs typeface="Hiragino Sans GB"/>
              </a:rPr>
              <a:t>Notebook </a:t>
            </a:r>
            <a:r>
              <a:rPr sz="120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虚拟仿真实验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8006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配套材料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5102352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教学指导文档 </a:t>
            </a:r>
            <a:r>
              <a:rPr sz="120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代码与数据（种子固定）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教学指导配套 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PPT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虚拟仿真实验 · 教学演示，不构成投资建议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oefler Text"/>
                <a:ea typeface="Hoefler Text"/>
                <a:cs typeface="Hoefler Text"/>
              </a:rPr>
              <a:t>01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32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evt="onBegin" delay="64"/>
                </p:stCondLst>
                <p:childTnLst>
                  <p:par>
                    <p:cTn id="1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13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96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128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2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22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4" fill="hold">
                <p:stCondLst>
                  <p:cond evt="onBegin" delay="160"/>
                </p:stCondLst>
                <p:childTnLst>
                  <p:par>
                    <p:cTn id="2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8" fill="hold">
                <p:stCondLst>
                  <p:cond evt="onBegin" delay="192"/>
                </p:stCondLst>
                <p:childTnLst>
                  <p:par>
                    <p:cTn id="2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2" fill="hold">
                <p:stCondLst>
                  <p:cond evt="onBegin" delay="224"/>
                </p:stCondLst>
                <p:childTnLst>
                  <p:par>
                    <p:cTn id="3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5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7" fill="hold">
                <p:stCondLst>
                  <p:cond evt="onBegin" delay="256"/>
                </p:stCondLst>
                <p:childTnLst>
                  <p:par>
                    <p:cTn id="3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4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40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2" fill="hold">
                <p:stCondLst>
                  <p:cond evt="onBegin" delay="288"/>
                </p:stCondLst>
                <p:childTnLst>
                  <p:par>
                    <p:cTn id="4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4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45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7" fill="hold">
                <p:stCondLst>
                  <p:cond evt="onBegin" delay="320"/>
                </p:stCondLst>
                <p:childTnLst>
                  <p:par>
                    <p:cTn id="4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5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50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2" fill="hold">
                <p:stCondLst>
                  <p:cond evt="onBegin" delay="352"/>
                </p:stCondLst>
                <p:childTnLst>
                  <p:par>
                    <p:cTn id="5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6" fill="hold">
                <p:stCondLst>
                  <p:cond evt="onBegin" delay="384"/>
                </p:stCondLst>
                <p:childTnLst>
                  <p:par>
                    <p:cTn id="5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0" fill="hold">
                <p:stCondLst>
                  <p:cond evt="onBegin" delay="416"/>
                </p:stCondLst>
                <p:childTnLst>
                  <p:par>
                    <p:cTn id="6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4" fill="hold">
                <p:stCondLst>
                  <p:cond evt="onBegin" delay="448"/>
                </p:stCondLst>
                <p:childTnLst>
                  <p:par>
                    <p:cTn id="6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8" fill="hold">
                <p:stCondLst>
                  <p:cond evt="onBegin" delay="480"/>
                </p:stCondLst>
                <p:childTnLst>
                  <p:par>
                    <p:cTn id="6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2" fill="hold">
                <p:stCondLst>
                  <p:cond evt="onBegin" delay="512"/>
                </p:stCondLst>
                <p:childTnLst>
                  <p:par>
                    <p:cTn id="7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6" fill="hold">
                <p:stCondLst>
                  <p:cond evt="onBegin" delay="544"/>
                </p:stCondLst>
                <p:childTnLst>
                  <p:par>
                    <p:cTn id="7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0" fill="hold">
                <p:stCondLst>
                  <p:cond evt="onBegin" delay="576"/>
                </p:stCondLst>
                <p:childTnLst>
                  <p:par>
                    <p:cTn id="8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4" fill="hold">
                <p:stCondLst>
                  <p:cond evt="onBegin" delay="608"/>
                </p:stCondLst>
                <p:childTnLst>
                  <p:par>
                    <p:cTn id="8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8" fill="hold">
                <p:stCondLst>
                  <p:cond evt="onBegin" delay="640"/>
                </p:stCondLst>
                <p:childTnLst>
                  <p:par>
                    <p:cTn id="8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2" fill="hold">
                <p:stCondLst>
                  <p:cond evt="onBegin" delay="672"/>
                </p:stCondLst>
                <p:childTnLst>
                  <p:par>
                    <p:cTn id="9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6" fill="hold">
                <p:stCondLst>
                  <p:cond evt="onBegin" delay="704"/>
                </p:stCondLst>
                <p:childTnLst>
                  <p:par>
                    <p:cTn id="9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0" fill="hold">
                <p:stCondLst>
                  <p:cond evt="onBegin" delay="736"/>
                </p:stCondLst>
                <p:childTnLst>
                  <p:par>
                    <p:cTn id="10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4" fill="hold">
                <p:stCondLst>
                  <p:cond evt="onBegin" delay="768"/>
                </p:stCondLst>
                <p:childTnLst>
                  <p:par>
                    <p:cTn id="10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spc="160">
                <a:solidFill>
                  <a:srgbClr val="64748B"/>
                </a:solidFill>
                <a:latin typeface="Hoefler Text"/>
                <a:ea typeface="Hoefler Text"/>
                <a:cs typeface="Hoefler Text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8368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目录 </a:t>
            </a:r>
            <a:r>
              <a:rPr sz="220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· </a:t>
            </a:r>
            <a:r>
              <a:rPr sz="220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四幕结构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一份把「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AI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投研信号」与「仓位决策训练」融合起来的实验教学案例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4406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4406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1280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2563EB"/>
                </a:solidFill>
                <a:latin typeface="Hoefler Text"/>
                <a:ea typeface="Hoefler Text"/>
                <a:cs typeface="Hoefler Tex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24028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背景与意义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78892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三个真问题 · 为什么必须虚拟仿真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54406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920240"/>
            <a:ext cx="544068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240280"/>
            <a:ext cx="1280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10B981"/>
                </a:solidFill>
                <a:latin typeface="Hoefler Text"/>
                <a:ea typeface="Hoefler Text"/>
                <a:cs typeface="Hoefler Tex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24028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实验设计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78892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真实行情沙盘 · 透明信号 · 三组仓位规则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39"/>
            <a:ext cx="54406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977639"/>
            <a:ext cx="5440680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97679"/>
            <a:ext cx="1280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F97316"/>
                </a:solidFill>
                <a:latin typeface="Hoefler Text"/>
                <a:ea typeface="Hoefler Text"/>
                <a:cs typeface="Hoefler Tex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297679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结果与发现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4846319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成本之税 · 校准失灵 · 保险定价 · 干预线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977639"/>
            <a:ext cx="5440680" cy="1783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977639"/>
            <a:ext cx="544068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297679"/>
            <a:ext cx="1280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7C3AED"/>
                </a:solidFill>
                <a:latin typeface="Hoefler Text"/>
                <a:ea typeface="Hoefler Text"/>
                <a:cs typeface="Hoefler Text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297679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教学组织与评价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846319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分层任务 · 典型错误引导 · 四维量规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oefler Text"/>
                <a:ea typeface="Hoefler Text"/>
                <a:cs typeface="Hoefler Text"/>
              </a:rPr>
              <a:t>02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32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64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96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128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160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2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26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8" fill="hold">
                <p:stCondLst>
                  <p:cond evt="onBegin" delay="192"/>
                </p:stCondLst>
                <p:childTnLst>
                  <p:par>
                    <p:cTn id="2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2" fill="hold">
                <p:stCondLst>
                  <p:cond evt="onBegin" delay="224"/>
                </p:stCondLst>
                <p:childTnLst>
                  <p:par>
                    <p:cTn id="3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5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7" fill="hold">
                <p:stCondLst>
                  <p:cond evt="onBegin" delay="256"/>
                </p:stCondLst>
                <p:childTnLst>
                  <p:par>
                    <p:cTn id="3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evt="onBegin" delay="288"/>
                </p:stCondLst>
                <p:childTnLst>
                  <p:par>
                    <p:cTn id="4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5" fill="hold">
                <p:stCondLst>
                  <p:cond evt="onBegin" delay="320"/>
                </p:stCondLst>
                <p:childTnLst>
                  <p:par>
                    <p:cTn id="4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9" fill="hold">
                <p:stCondLst>
                  <p:cond evt="onBegin" delay="352"/>
                </p:stCondLst>
                <p:childTnLst>
                  <p:par>
                    <p:cTn id="5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3" fill="hold">
                <p:stCondLst>
                  <p:cond evt="onBegin" delay="384"/>
                </p:stCondLst>
                <p:childTnLst>
                  <p:par>
                    <p:cTn id="5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7" fill="hold">
                <p:stCondLst>
                  <p:cond evt="onBegin" delay="416"/>
                </p:stCondLst>
                <p:childTnLst>
                  <p:par>
                    <p:cTn id="5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1" fill="hold">
                <p:stCondLst>
                  <p:cond evt="onBegin" delay="448"/>
                </p:stCondLst>
                <p:childTnLst>
                  <p:par>
                    <p:cTn id="6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5" fill="hold">
                <p:stCondLst>
                  <p:cond evt="onBegin" delay="480"/>
                </p:stCondLst>
                <p:childTnLst>
                  <p:par>
                    <p:cTn id="6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6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68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0" fill="hold">
                <p:stCondLst>
                  <p:cond evt="onBegin" delay="512"/>
                </p:stCondLst>
                <p:childTnLst>
                  <p:par>
                    <p:cTn id="7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4" fill="hold">
                <p:stCondLst>
                  <p:cond evt="onBegin" delay="544"/>
                </p:stCondLst>
                <p:childTnLst>
                  <p:par>
                    <p:cTn id="7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7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77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9" fill="hold">
                <p:stCondLst>
                  <p:cond evt="onBegin" delay="576"/>
                </p:stCondLst>
                <p:childTnLst>
                  <p:par>
                    <p:cTn id="8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3" fill="hold">
                <p:stCondLst>
                  <p:cond evt="onBegin" delay="608"/>
                </p:stCondLst>
                <p:childTnLst>
                  <p:par>
                    <p:cTn id="8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7" fill="hold">
                <p:stCondLst>
                  <p:cond evt="onBegin" delay="640"/>
                </p:stCondLst>
                <p:childTnLst>
                  <p:par>
                    <p:cTn id="8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1" fill="hold">
                <p:stCondLst>
                  <p:cond evt="onBegin" delay="672"/>
                </p:stCondLst>
                <p:childTnLst>
                  <p:par>
                    <p:cTn id="9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5" fill="hold">
                <p:stCondLst>
                  <p:cond evt="onBegin" delay="704"/>
                </p:stCondLst>
                <p:childTnLst>
                  <p:par>
                    <p:cTn id="9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9" fill="hold">
                <p:stCondLst>
                  <p:cond evt="onBegin" delay="736"/>
                </p:stCondLst>
                <p:childTnLst>
                  <p:par>
                    <p:cTn id="10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3" fill="hold">
                <p:stCondLst>
                  <p:cond evt="onBegin" delay="768"/>
                </p:stCondLst>
                <p:childTnLst>
                  <p:par>
                    <p:cTn id="10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7" fill="hold">
                <p:stCondLst>
                  <p:cond evt="onBegin" delay="800"/>
                </p:stCondLst>
                <p:childTnLst>
                  <p:par>
                    <p:cTn id="10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-1005840"/>
            <a:ext cx="2926080" cy="2926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5120640"/>
            <a:ext cx="3474720" cy="3474720"/>
          </a:xfrm>
          <a:prstGeom prst="ellipse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657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1">
                <a:solidFill>
                  <a:srgbClr val="EFF6FF"/>
                </a:solidFill>
                <a:latin typeface="Hoefler Text"/>
                <a:ea typeface="Hoefler Text"/>
                <a:cs typeface="Hoefler Tex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spc="160">
                <a:solidFill>
                  <a:srgbClr val="2563EB"/>
                </a:solidFill>
                <a:latin typeface="Hoefler Text"/>
                <a:ea typeface="Hoefler Text"/>
                <a:cs typeface="Hoefler Text"/>
              </a:rPr>
              <a:t>BACKGROUND &amp; SIGNIFICANCE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Hoefler Text"/>
                <a:ea typeface="Ma Shan Zheng"/>
                <a:cs typeface="Ma Shan Zheng"/>
              </a:rPr>
              <a:t>背景与意义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三个真问题：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AI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说了买，该买多少？亏了谁来管？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389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预测力 ≠ 盈利能力：分水岭在仓位规则与交易成本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2297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真实公开行情 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+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透明模拟信号 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=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可控而复杂的实验沙盘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oefler Text"/>
                <a:ea typeface="Hoefler Text"/>
                <a:cs typeface="Hoefler Text"/>
              </a:rPr>
              <a:t>03 / 20</a:t>
            </a:r>
          </a:p>
        </p:txBody>
      </p:sp>
    </p:spTree>
  </p:cSld>
  <p:transition>
    <p:split>
      <p:dir val="in"/>
      <p:orient val="horz"/>
    </p:split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55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evt="onBegin" delay="110"/>
                </p:stCondLst>
                <p:childTnLst>
                  <p:par>
                    <p:cTn id="1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evt="onBegin" delay="165"/>
                </p:stCondLst>
                <p:childTnLst>
                  <p:par>
                    <p:cTn id="1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8" fill="hold">
                <p:stCondLst>
                  <p:cond evt="onBegin" delay="220"/>
                </p:stCondLst>
                <p:childTnLst>
                  <p:par>
                    <p:cTn id="1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2" fill="hold">
                <p:stCondLst>
                  <p:cond evt="onBegin" delay="275"/>
                </p:stCondLst>
                <p:childTnLst>
                  <p:par>
                    <p:cTn id="2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6" fill="hold">
                <p:stCondLst>
                  <p:cond evt="onBegin" delay="330"/>
                </p:stCondLst>
                <p:childTnLst>
                  <p:par>
                    <p:cTn id="2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0" fill="hold">
                <p:stCondLst>
                  <p:cond evt="onBegin" delay="385"/>
                </p:stCondLst>
                <p:childTnLst>
                  <p:par>
                    <p:cTn id="3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4" fill="hold">
                <p:stCondLst>
                  <p:cond evt="onBegin" delay="440"/>
                </p:stCondLst>
                <p:childTnLst>
                  <p:par>
                    <p:cTn id="3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8" fill="hold">
                <p:stCondLst>
                  <p:cond evt="onBegin" delay="495"/>
                </p:stCondLst>
                <p:childTnLst>
                  <p:par>
                    <p:cTn id="3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2" fill="hold">
                <p:stCondLst>
                  <p:cond evt="onBegin" delay="550"/>
                </p:stCondLst>
                <p:childTnLst>
                  <p:par>
                    <p:cTn id="4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01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背景与意义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三个真问题：</a:t>
            </a:r>
            <a:r>
              <a:rPr sz="22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AI </a:t>
            </a:r>
            <a:r>
              <a:rPr sz="220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投研链条上被忽视的「最后一厘米」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大模型投研工作台批量进入券商与基金，但信号到资金之间的转化环节没有训练环境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611880" cy="3383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36118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212848"/>
            <a:ext cx="475488" cy="47548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258568"/>
            <a:ext cx="4754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Hoefler Text"/>
                <a:ea typeface="Hoefler Text"/>
                <a:cs typeface="Hoefler Tex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28600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来自行业的真实提问 </a:t>
            </a:r>
            <a:r>
              <a:rPr sz="95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834640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AI </a:t>
            </a:r>
            <a:r>
              <a:rPr sz="140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说「买」，仓位该给多少？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611880"/>
            <a:ext cx="32461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每日数百条看多/看空观点与置信度，信号到仓位的转化全靠交易员手感，缺乏可训练、可考核的实验环境。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1" y="1965960"/>
            <a:ext cx="3611880" cy="3383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1" y="1965960"/>
            <a:ext cx="3611880" cy="8229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1999" y="2212848"/>
            <a:ext cx="475488" cy="47548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1999" y="2258568"/>
            <a:ext cx="4754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Hoefler Text"/>
                <a:ea typeface="Hoefler Text"/>
                <a:cs typeface="Hoefler Text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1" y="228600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来自行业的真实提问 </a:t>
            </a:r>
            <a:r>
              <a:rPr sz="95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2834640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高置信度信号，值得重仓吗？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3611880"/>
            <a:ext cx="32461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未经校准的置信度直接映射为仓位，会把模型的过度自信放大为账户的过度敞口——谁来验证置信度的成色？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3" y="1965960"/>
            <a:ext cx="3611880" cy="3383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93023" y="1965960"/>
            <a:ext cx="361188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94191" y="2212848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191" y="2258568"/>
            <a:ext cx="475488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Hoefler Text"/>
                <a:ea typeface="Hoefler Text"/>
                <a:cs typeface="Hoefler Text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3" y="228600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来自行业的真实提问 </a:t>
            </a:r>
            <a:r>
              <a:rPr sz="95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1" y="2834640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回撤触线时，谁来扣扳机？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1" y="3611880"/>
            <a:ext cx="32461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最大回撤预算往往只是写在风控手册里的红线，没有机制保证它在盘中被真正执行。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信号「准不准」已被讨论很多，信号「配多少」才是直接决定损益的环节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a Shan Zheng"/>
                <a:ea typeface="Ma Shan Zheng"/>
                <a:cs typeface="Ma Shan Zheng"/>
              </a:rPr>
              <a:t>教仓位决策 = 教风险预算官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oefler Text"/>
                <a:ea typeface="Hoefler Text"/>
                <a:cs typeface="Hoefler Text"/>
              </a:rPr>
              <a:t>04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32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64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96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128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160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2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26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8" fill="hold">
                <p:stCondLst>
                  <p:cond evt="onBegin" delay="192"/>
                </p:stCondLst>
                <p:childTnLst>
                  <p:par>
                    <p:cTn id="2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2" fill="hold">
                <p:stCondLst>
                  <p:cond evt="onBegin" delay="224"/>
                </p:stCondLst>
                <p:childTnLst>
                  <p:par>
                    <p:cTn id="3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5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7" fill="hold">
                <p:stCondLst>
                  <p:cond evt="onBegin" delay="256"/>
                </p:stCondLst>
                <p:childTnLst>
                  <p:par>
                    <p:cTn id="3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evt="onBegin" delay="288"/>
                </p:stCondLst>
                <p:childTnLst>
                  <p:par>
                    <p:cTn id="4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4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44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6" fill="hold">
                <p:stCondLst>
                  <p:cond evt="onBegin" delay="320"/>
                </p:stCondLst>
                <p:childTnLst>
                  <p:par>
                    <p:cTn id="4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5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4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1" fill="hold">
                <p:stCondLst>
                  <p:cond evt="onBegin" delay="352"/>
                </p:stCondLst>
                <p:childTnLst>
                  <p:par>
                    <p:cTn id="5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5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54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6" fill="hold">
                <p:stCondLst>
                  <p:cond evt="onBegin" delay="384"/>
                </p:stCondLst>
                <p:childTnLst>
                  <p:par>
                    <p:cTn id="5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6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5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1" fill="hold">
                <p:stCondLst>
                  <p:cond evt="onBegin" delay="416"/>
                </p:stCondLst>
                <p:childTnLst>
                  <p:par>
                    <p:cTn id="6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5" fill="hold">
                <p:stCondLst>
                  <p:cond evt="onBegin" delay="448"/>
                </p:stCondLst>
                <p:childTnLst>
                  <p:par>
                    <p:cTn id="6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9" fill="hold">
                <p:stCondLst>
                  <p:cond evt="onBegin" delay="480"/>
                </p:stCondLst>
                <p:childTnLst>
                  <p:par>
                    <p:cTn id="7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3" fill="hold">
                <p:stCondLst>
                  <p:cond evt="onBegin" delay="512"/>
                </p:stCondLst>
                <p:childTnLst>
                  <p:par>
                    <p:cTn id="7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7" fill="hold">
                <p:stCondLst>
                  <p:cond evt="onBegin" delay="544"/>
                </p:stCondLst>
                <p:childTnLst>
                  <p:par>
                    <p:cTn id="7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1" fill="hold">
                <p:stCondLst>
                  <p:cond evt="onBegin" delay="576"/>
                </p:stCondLst>
                <p:childTnLst>
                  <p:par>
                    <p:cTn id="8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5" fill="hold">
                <p:stCondLst>
                  <p:cond evt="onBegin" delay="608"/>
                </p:stCondLst>
                <p:childTnLst>
                  <p:par>
                    <p:cTn id="8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9" fill="hold">
                <p:stCondLst>
                  <p:cond evt="onBegin" delay="640"/>
                </p:stCondLst>
                <p:childTnLst>
                  <p:par>
                    <p:cTn id="9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3" fill="hold">
                <p:stCondLst>
                  <p:cond evt="onBegin" delay="672"/>
                </p:stCondLst>
                <p:childTnLst>
                  <p:par>
                    <p:cTn id="9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7" fill="hold">
                <p:stCondLst>
                  <p:cond evt="onBegin" delay="704"/>
                </p:stCondLst>
                <p:childTnLst>
                  <p:par>
                    <p:cTn id="9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1" fill="hold">
                <p:stCondLst>
                  <p:cond evt="onBegin" delay="736"/>
                </p:stCondLst>
                <p:childTnLst>
                  <p:par>
                    <p:cTn id="10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5" fill="hold">
                <p:stCondLst>
                  <p:cond evt="onBegin" delay="768"/>
                </p:stCondLst>
                <p:childTnLst>
                  <p:par>
                    <p:cTn id="10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9" fill="hold">
                <p:stCondLst>
                  <p:cond evt="onBegin" delay="800"/>
                </p:stCondLst>
                <p:childTnLst>
                  <p:par>
                    <p:cTn id="11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1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1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3" fill="hold">
                <p:stCondLst>
                  <p:cond evt="onBegin" delay="832"/>
                </p:stCondLst>
                <p:childTnLst>
                  <p:par>
                    <p:cTn id="11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1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1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7" fill="hold">
                <p:stCondLst>
                  <p:cond evt="onBegin" delay="864"/>
                </p:stCondLst>
                <p:childTnLst>
                  <p:par>
                    <p:cTn id="11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1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2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21" fill="hold">
                <p:stCondLst>
                  <p:cond evt="onBegin" delay="896"/>
                </p:stCondLst>
                <p:childTnLst>
                  <p:par>
                    <p:cTn id="12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2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2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25" fill="hold">
                <p:stCondLst>
                  <p:cond evt="onBegin" delay="928"/>
                </p:stCondLst>
                <p:childTnLst>
                  <p:par>
                    <p:cTn id="12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2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2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01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背景与意义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为什么必须虚拟仿真：真实行情沙盘 × 透明信号注入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培训规范要求「取材现实、数据有出处」——行情真实可核验，信号透明可复现，二者结合才构成完整沙盘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440680" cy="3063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4406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84832"/>
            <a:ext cx="5038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真实行情（出处明确）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23744"/>
            <a:ext cx="5038344" cy="2322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28 只沪深大盘蓝筹 · 410 个交易日（2024-01-02 至 2025-10-28）前复权收盘价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来源：腾讯财经公开行情接口，任何学生可随时重新下载核验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覆盖金融/消费/能源/制造/科技，含完整牛熊波动结构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440680" cy="3063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544068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084832"/>
            <a:ext cx="50383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透明信号（种子固定）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523744"/>
            <a:ext cx="5038344" cy="2322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同一行情上蒙特卡洛注入 6910 条买/卖信号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方向命中率 55% 假设（实测 53.95%），种子 20261029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置信度与真实超额幅度正相关 + 噪声；生成规则完全公开，复跑逐字节一致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120640"/>
            <a:ext cx="11109960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7550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教学定位：训练「仓位决策」能力而非复刻某段行情——真实行情保证环境复杂性，透明信号保证实验可控性。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数据有出处是规范性得分点，信号有种子是可复现得分点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a Shan Zheng"/>
                <a:ea typeface="Ma Shan Zheng"/>
                <a:cs typeface="Ma Shan Zheng"/>
              </a:rPr>
              <a:t>真实为体 · 透明为用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oefler Text"/>
                <a:ea typeface="Hoefler Text"/>
                <a:cs typeface="Hoefler Text"/>
              </a:rPr>
              <a:t>05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55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110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165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220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275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2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26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8" fill="hold">
                <p:stCondLst>
                  <p:cond evt="onBegin" delay="330"/>
                </p:stCondLst>
                <p:childTnLst>
                  <p:par>
                    <p:cTn id="2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2" fill="hold">
                <p:stCondLst>
                  <p:cond evt="onBegin" delay="385"/>
                </p:stCondLst>
                <p:childTnLst>
                  <p:par>
                    <p:cTn id="3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5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7" fill="hold">
                <p:stCondLst>
                  <p:cond evt="onBegin" delay="440"/>
                </p:stCondLst>
                <p:childTnLst>
                  <p:par>
                    <p:cTn id="3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evt="onBegin" delay="495"/>
                </p:stCondLst>
                <p:childTnLst>
                  <p:par>
                    <p:cTn id="4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5" fill="hold">
                <p:stCondLst>
                  <p:cond evt="onBegin" delay="550"/>
                </p:stCondLst>
                <p:childTnLst>
                  <p:par>
                    <p:cTn id="4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4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48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0" fill="hold">
                <p:stCondLst>
                  <p:cond evt="onBegin" delay="605"/>
                </p:stCondLst>
                <p:childTnLst>
                  <p:par>
                    <p:cTn id="5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5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53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5" fill="hold">
                <p:stCondLst>
                  <p:cond evt="onBegin" delay="660"/>
                </p:stCondLst>
                <p:childTnLst>
                  <p:par>
                    <p:cTn id="5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9" fill="hold">
                <p:stCondLst>
                  <p:cond evt="onBegin" delay="715"/>
                </p:stCondLst>
                <p:childTnLst>
                  <p:par>
                    <p:cTn id="6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3" fill="hold">
                <p:stCondLst>
                  <p:cond evt="onBegin" delay="770"/>
                </p:stCondLst>
                <p:childTnLst>
                  <p:par>
                    <p:cTn id="6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7" fill="hold">
                <p:stCondLst>
                  <p:cond evt="onBegin" delay="825"/>
                </p:stCondLst>
                <p:childTnLst>
                  <p:par>
                    <p:cTn id="6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1" fill="hold">
                <p:stCondLst>
                  <p:cond evt="onBegin" delay="880"/>
                </p:stCondLst>
                <p:childTnLst>
                  <p:par>
                    <p:cTn id="7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5" fill="hold">
                <p:stCondLst>
                  <p:cond evt="onBegin" delay="935"/>
                </p:stCondLst>
                <p:childTnLst>
                  <p:par>
                    <p:cTn id="7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9" fill="hold">
                <p:stCondLst>
                  <p:cond evt="onBegin" delay="990"/>
                </p:stCondLst>
                <p:childTnLst>
                  <p:par>
                    <p:cTn id="8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-1005840"/>
            <a:ext cx="2926080" cy="2926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5120640"/>
            <a:ext cx="3474720" cy="3474720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657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1">
                <a:solidFill>
                  <a:srgbClr val="ECFDF5"/>
                </a:solidFill>
                <a:latin typeface="Hoefler Text"/>
                <a:ea typeface="Hoefler Text"/>
                <a:cs typeface="Hoefler Tex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spc="160">
                <a:solidFill>
                  <a:srgbClr val="10B981"/>
                </a:solidFill>
                <a:latin typeface="Hoefler Text"/>
                <a:ea typeface="Hoefler Text"/>
                <a:cs typeface="Hoefler Text"/>
              </a:rPr>
              <a:t>EXPERIMENTAL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Hoefler Text"/>
                <a:ea typeface="Ma Shan Zheng"/>
                <a:cs typeface="Ma Shan Zheng"/>
              </a:rPr>
              <a:t>实验设计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冻结同一组 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AI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信号，只变动「信号→仓位」的转化规则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389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三组规则对照：满仓等权 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/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置信度分档 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/ 1/4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凯利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+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回撤干预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2297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统一约束：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5bp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单边成本 </a:t>
            </a: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6%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回撤软触线 </a:t>
            </a: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20%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个股上限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oefler Text"/>
                <a:ea typeface="Hoefler Text"/>
                <a:cs typeface="Hoefler Text"/>
              </a:rPr>
              <a:t>06 / 20</a:t>
            </a:r>
          </a:p>
        </p:txBody>
      </p:sp>
    </p:spTree>
  </p:cSld>
  <p:transition>
    <p:split>
      <p:dir val="in"/>
      <p:orient val="horz"/>
    </p:split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55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evt="onBegin" delay="110"/>
                </p:stCondLst>
                <p:childTnLst>
                  <p:par>
                    <p:cTn id="1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evt="onBegin" delay="165"/>
                </p:stCondLst>
                <p:childTnLst>
                  <p:par>
                    <p:cTn id="1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8" fill="hold">
                <p:stCondLst>
                  <p:cond evt="onBegin" delay="220"/>
                </p:stCondLst>
                <p:childTnLst>
                  <p:par>
                    <p:cTn id="1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2" fill="hold">
                <p:stCondLst>
                  <p:cond evt="onBegin" delay="275"/>
                </p:stCondLst>
                <p:childTnLst>
                  <p:par>
                    <p:cTn id="2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6" fill="hold">
                <p:stCondLst>
                  <p:cond evt="onBegin" delay="330"/>
                </p:stCondLst>
                <p:childTnLst>
                  <p:par>
                    <p:cTn id="2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0" fill="hold">
                <p:stCondLst>
                  <p:cond evt="onBegin" delay="385"/>
                </p:stCondLst>
                <p:childTnLst>
                  <p:par>
                    <p:cTn id="3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4" fill="hold">
                <p:stCondLst>
                  <p:cond evt="onBegin" delay="440"/>
                </p:stCondLst>
                <p:childTnLst>
                  <p:par>
                    <p:cTn id="3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8" fill="hold">
                <p:stCondLst>
                  <p:cond evt="onBegin" delay="495"/>
                </p:stCondLst>
                <p:childTnLst>
                  <p:par>
                    <p:cTn id="3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2" fill="hold">
                <p:stCondLst>
                  <p:cond evt="onBegin" delay="550"/>
                </p:stCondLst>
                <p:childTnLst>
                  <p:par>
                    <p:cTn id="4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02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实验设计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实验环境：平台在线 </a:t>
            </a:r>
            <a:r>
              <a:rPr sz="22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Notebook</a:t>
            </a:r>
            <a:r>
              <a:rPr sz="220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，打开即跑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案例正文、数据集、代码、运行结果一体化，学生零安装配置</a:t>
            </a:r>
          </a:p>
        </p:txBody>
      </p:sp>
      <p:pic>
        <p:nvPicPr>
          <p:cNvPr id="8" name="Picture 7" descr="截图_正文_顶部摘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2972061" cy="3611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783080"/>
            <a:ext cx="2972061" cy="3611880"/>
          </a:xfrm>
          <a:prstGeom prst="rect">
            <a:avLst/>
          </a:prstGeom>
          <a:noFill/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4406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平台案例正文实拍 · 在线 Notebook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828800"/>
            <a:ext cx="507492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960" y="1828800"/>
            <a:ext cx="82296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94767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Hiragino Sans GB"/>
                <a:cs typeface="Hiragino Sans GB"/>
              </a:rPr>
              <a:t>一体化载体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28600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实验说明、数据文件、代码单元、运行结果与报告要求全部集成在一个 Notebook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3035808"/>
            <a:ext cx="507492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3035808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315468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Hiragino Sans GB"/>
                <a:cs typeface="Hiragino Sans GB"/>
              </a:rPr>
              <a:t>云端运行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493008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学生登录即获独立实验环境，预置数据分析工具与依赖，减少本地安装干扰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4242816"/>
            <a:ext cx="507492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60" y="4242816"/>
            <a:ext cx="82296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436168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Hiragino Sans GB"/>
                <a:cs typeface="Hiragino Sans GB"/>
              </a:rPr>
              <a:t>一键复现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700016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全部表格与图形由代码单元真实运行生成，无任何手工录入数字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评审最关注「方案可比较、过程可追溯」——每个数字都能一键重跑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0B981"/>
                </a:solidFill>
                <a:latin typeface="Ma Shan Zheng"/>
                <a:ea typeface="Ma Shan Zheng"/>
                <a:cs typeface="Ma Shan Zheng"/>
              </a:rPr>
              <a:t>环境即教具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oefler Text"/>
                <a:ea typeface="Hoefler Text"/>
                <a:cs typeface="Hoefler Text"/>
              </a:rPr>
              <a:t>07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32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64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96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128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160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7" fill="hold">
                <p:stCondLst>
                  <p:cond evt="onBegin" delay="192"/>
                </p:stCondLst>
                <p:childTnLst>
                  <p:par>
                    <p:cTn id="2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1" fill="hold">
                <p:stCondLst>
                  <p:cond evt="onBegin" delay="224"/>
                </p:stCondLst>
                <p:childTnLst>
                  <p:par>
                    <p:cTn id="3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4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6" fill="hold">
                <p:stCondLst>
                  <p:cond evt="onBegin" delay="256"/>
                </p:stCondLst>
                <p:childTnLst>
                  <p:par>
                    <p:cTn id="3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0" fill="hold">
                <p:stCondLst>
                  <p:cond evt="onBegin" delay="288"/>
                </p:stCondLst>
                <p:childTnLst>
                  <p:par>
                    <p:cTn id="4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4" fill="hold">
                <p:stCondLst>
                  <p:cond evt="onBegin" delay="320"/>
                </p:stCondLst>
                <p:childTnLst>
                  <p:par>
                    <p:cTn id="4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8" fill="hold">
                <p:stCondLst>
                  <p:cond evt="onBegin" delay="352"/>
                </p:stCondLst>
                <p:childTnLst>
                  <p:par>
                    <p:cTn id="4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5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51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3" fill="hold">
                <p:stCondLst>
                  <p:cond evt="onBegin" delay="384"/>
                </p:stCondLst>
                <p:childTnLst>
                  <p:par>
                    <p:cTn id="5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7" fill="hold">
                <p:stCondLst>
                  <p:cond evt="onBegin" delay="416"/>
                </p:stCondLst>
                <p:childTnLst>
                  <p:par>
                    <p:cTn id="5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1" fill="hold">
                <p:stCondLst>
                  <p:cond evt="onBegin" delay="448"/>
                </p:stCondLst>
                <p:childTnLst>
                  <p:par>
                    <p:cTn id="6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5" fill="hold">
                <p:stCondLst>
                  <p:cond evt="onBegin" delay="480"/>
                </p:stCondLst>
                <p:childTnLst>
                  <p:par>
                    <p:cTn id="6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6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68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0" fill="hold">
                <p:stCondLst>
                  <p:cond evt="onBegin" delay="512"/>
                </p:stCondLst>
                <p:childTnLst>
                  <p:par>
                    <p:cTn id="7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4" fill="hold">
                <p:stCondLst>
                  <p:cond evt="onBegin" delay="544"/>
                </p:stCondLst>
                <p:childTnLst>
                  <p:par>
                    <p:cTn id="7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8" fill="hold">
                <p:stCondLst>
                  <p:cond evt="onBegin" delay="576"/>
                </p:stCondLst>
                <p:childTnLst>
                  <p:par>
                    <p:cTn id="7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2" fill="hold">
                <p:stCondLst>
                  <p:cond evt="onBegin" delay="608"/>
                </p:stCondLst>
                <p:childTnLst>
                  <p:par>
                    <p:cTn id="8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6" fill="hold">
                <p:stCondLst>
                  <p:cond evt="onBegin" delay="640"/>
                </p:stCondLst>
                <p:childTnLst>
                  <p:par>
                    <p:cTn id="8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0" fill="hold">
                <p:stCondLst>
                  <p:cond evt="onBegin" delay="672"/>
                </p:stCondLst>
                <p:childTnLst>
                  <p:par>
                    <p:cTn id="9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4" fill="hold">
                <p:stCondLst>
                  <p:cond evt="onBegin" delay="704"/>
                </p:stCondLst>
                <p:childTnLst>
                  <p:par>
                    <p:cTn id="9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8" fill="hold">
                <p:stCondLst>
                  <p:cond evt="onBegin" delay="736"/>
                </p:stCondLst>
                <p:childTnLst>
                  <p:par>
                    <p:cTn id="9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02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实验设计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受控对照实验：信号冻结，只变仓位规则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信号相同，则任何绩效差异都只能归因于仓位规则——干净识别因果关系的关键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3611880" cy="3017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3611880" cy="8229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031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A </a:t>
            </a:r>
            <a:r>
              <a:rPr sz="10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对照组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95728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满仓等权（无风险预算）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17520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有信号即 100% 等权持有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206240"/>
            <a:ext cx="3200400" cy="502920"/>
          </a:xfrm>
          <a:prstGeom prst="roundRect">
            <a:avLst>
              <a:gd name="adj" fmla="val 9000"/>
            </a:avLst>
          </a:prstGeom>
          <a:solidFill>
            <a:srgbClr val="F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7939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43F5E"/>
                </a:solidFill>
                <a:latin typeface="Hiragino Sans GB"/>
                <a:ea typeface="Hiragino Sans GB"/>
                <a:cs typeface="Hiragino Sans GB"/>
              </a:rPr>
              <a:t>角色：「All in」的直觉做法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1" y="1874519"/>
            <a:ext cx="3611880" cy="3017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1" y="1874519"/>
            <a:ext cx="36118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1999" y="21031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B </a:t>
            </a:r>
            <a:r>
              <a:rPr sz="10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实验组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2395728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置信度分档固定分数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017520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≥0.7 配 3 成；0.55–0.7 配 2 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1999" y="4206240"/>
            <a:ext cx="3200400" cy="502920"/>
          </a:xfrm>
          <a:prstGeom prst="roundRect">
            <a:avLst>
              <a:gd name="adj" fmla="val 9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1" y="427939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563EB"/>
                </a:solidFill>
                <a:latin typeface="Hiragino Sans GB"/>
                <a:ea typeface="Hiragino Sans GB"/>
                <a:cs typeface="Hiragino Sans GB"/>
              </a:rPr>
              <a:t>角色：把置信度直接映射为仓位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3" y="1874519"/>
            <a:ext cx="3611880" cy="3017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93023" y="1874519"/>
            <a:ext cx="361188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1" y="21031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C </a:t>
            </a:r>
            <a:r>
              <a:rPr sz="10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实验组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1" y="2395728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1/4 </a:t>
            </a:r>
            <a:r>
              <a:rPr sz="140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凯利 </a:t>
            </a:r>
            <a:r>
              <a:rPr sz="14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+ </a:t>
            </a:r>
            <a:r>
              <a:rPr sz="140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回撤干预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1" y="3017520"/>
            <a:ext cx="3246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样本内估凯利分数×1/4；触 -6% 线仓位减半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94191" y="4206240"/>
            <a:ext cx="3200400" cy="502920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58783" y="427939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iragino Sans GB"/>
                <a:ea typeface="Hiragino Sans GB"/>
                <a:cs typeface="Hiragino Sans GB"/>
              </a:rPr>
              <a:t>角色：定量风险预算 + 主动干预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074920"/>
            <a:ext cx="11109960" cy="3840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1297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0B981"/>
                </a:solidFill>
                <a:latin typeface="Hiragino Sans GB"/>
                <a:ea typeface="Hiragino Sans GB"/>
                <a:cs typeface="Hiragino Sans GB"/>
              </a:rPr>
              <a:t>硬约束：</a:t>
            </a:r>
            <a:r>
              <a:rPr sz="1050" b="0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单票上限 20% · 总仓上限 100% · 单边成本 5bp ｜ 软触线：回撤 -6% 触发减半（不保证不突破）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任何参数不得使用样本外信息：前 </a:t>
            </a: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70% </a:t>
            </a:r>
            <a:r>
              <a:rPr sz="125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估计，后 </a:t>
            </a: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30% </a:t>
            </a:r>
            <a:r>
              <a:rPr sz="125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检验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0B981"/>
                </a:solidFill>
                <a:latin typeface="Ma Shan Zheng"/>
                <a:ea typeface="Ma Shan Zheng"/>
                <a:cs typeface="Ma Shan Zheng"/>
              </a:rPr>
              <a:t>机制的可解释性优先于结果的漂亮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oefler Text"/>
                <a:ea typeface="Hoefler Text"/>
                <a:cs typeface="Hoefler Text"/>
              </a:rPr>
              <a:t>08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32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64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96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128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160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2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26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8" fill="hold">
                <p:stCondLst>
                  <p:cond evt="onBegin" delay="192"/>
                </p:stCondLst>
                <p:childTnLst>
                  <p:par>
                    <p:cTn id="2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2" fill="hold">
                <p:stCondLst>
                  <p:cond evt="onBegin" delay="224"/>
                </p:stCondLst>
                <p:childTnLst>
                  <p:par>
                    <p:cTn id="3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5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7" fill="hold">
                <p:stCondLst>
                  <p:cond evt="onBegin" delay="256"/>
                </p:stCondLst>
                <p:childTnLst>
                  <p:par>
                    <p:cTn id="3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evt="onBegin" delay="288"/>
                </p:stCondLst>
                <p:childTnLst>
                  <p:par>
                    <p:cTn id="4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4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44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6" fill="hold">
                <p:stCondLst>
                  <p:cond evt="onBegin" delay="320"/>
                </p:stCondLst>
                <p:childTnLst>
                  <p:par>
                    <p:cTn id="4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0" fill="hold">
                <p:stCondLst>
                  <p:cond evt="onBegin" delay="352"/>
                </p:stCondLst>
                <p:childTnLst>
                  <p:par>
                    <p:cTn id="5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4" fill="hold">
                <p:stCondLst>
                  <p:cond evt="onBegin" delay="384"/>
                </p:stCondLst>
                <p:childTnLst>
                  <p:par>
                    <p:cTn id="5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8" fill="hold">
                <p:stCondLst>
                  <p:cond evt="onBegin" delay="416"/>
                </p:stCondLst>
                <p:childTnLst>
                  <p:par>
                    <p:cTn id="5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2" fill="hold">
                <p:stCondLst>
                  <p:cond evt="onBegin" delay="448"/>
                </p:stCondLst>
                <p:childTnLst>
                  <p:par>
                    <p:cTn id="6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6" fill="hold">
                <p:stCondLst>
                  <p:cond evt="onBegin" delay="480"/>
                </p:stCondLst>
                <p:childTnLst>
                  <p:par>
                    <p:cTn id="6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0" fill="hold">
                <p:stCondLst>
                  <p:cond evt="onBegin" delay="512"/>
                </p:stCondLst>
                <p:childTnLst>
                  <p:par>
                    <p:cTn id="7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4" fill="hold">
                <p:stCondLst>
                  <p:cond evt="onBegin" delay="544"/>
                </p:stCondLst>
                <p:childTnLst>
                  <p:par>
                    <p:cTn id="7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8" fill="hold">
                <p:stCondLst>
                  <p:cond evt="onBegin" delay="576"/>
                </p:stCondLst>
                <p:childTnLst>
                  <p:par>
                    <p:cTn id="7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2" fill="hold">
                <p:stCondLst>
                  <p:cond evt="onBegin" delay="608"/>
                </p:stCondLst>
                <p:childTnLst>
                  <p:par>
                    <p:cTn id="8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8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85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7" fill="hold">
                <p:stCondLst>
                  <p:cond evt="onBegin" delay="640"/>
                </p:stCondLst>
                <p:childTnLst>
                  <p:par>
                    <p:cTn id="8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9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0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2" fill="hold">
                <p:stCondLst>
                  <p:cond evt="onBegin" delay="672"/>
                </p:stCondLst>
                <p:childTnLst>
                  <p:par>
                    <p:cTn id="9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9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5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7" fill="hold">
                <p:stCondLst>
                  <p:cond evt="onBegin" delay="704"/>
                </p:stCondLst>
                <p:childTnLst>
                  <p:par>
                    <p:cTn id="9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1" fill="hold">
                <p:stCondLst>
                  <p:cond evt="onBegin" delay="736"/>
                </p:stCondLst>
                <p:childTnLst>
                  <p:par>
                    <p:cTn id="10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5" fill="hold">
                <p:stCondLst>
                  <p:cond evt="onBegin" delay="768"/>
                </p:stCondLst>
                <p:childTnLst>
                  <p:par>
                    <p:cTn id="10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9" fill="hold">
                <p:stCondLst>
                  <p:cond evt="onBegin" delay="800"/>
                </p:stCondLst>
                <p:childTnLst>
                  <p:par>
                    <p:cTn id="11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1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1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3" fill="hold">
                <p:stCondLst>
                  <p:cond evt="onBegin" delay="832"/>
                </p:stCondLst>
                <p:childTnLst>
                  <p:par>
                    <p:cTn id="11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1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1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7" fill="hold">
                <p:stCondLst>
                  <p:cond evt="onBegin" delay="864"/>
                </p:stCondLst>
                <p:childTnLst>
                  <p:par>
                    <p:cTn id="11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1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2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21" fill="hold">
                <p:stCondLst>
                  <p:cond evt="onBegin" delay="896"/>
                </p:stCondLst>
                <p:childTnLst>
                  <p:par>
                    <p:cTn id="12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2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2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25" fill="hold">
                <p:stCondLst>
                  <p:cond evt="onBegin" delay="928"/>
                </p:stCondLst>
                <p:childTnLst>
                  <p:par>
                    <p:cTn id="12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2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2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29" fill="hold">
                <p:stCondLst>
                  <p:cond evt="onBegin" delay="960"/>
                </p:stCondLst>
                <p:childTnLst>
                  <p:par>
                    <p:cTn id="13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3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33" fill="hold">
                <p:stCondLst>
                  <p:cond evt="onBegin" delay="992"/>
                </p:stCondLst>
                <p:childTnLst>
                  <p:par>
                    <p:cTn id="13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3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02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实验设计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信号诊断：置信度存在系统性过度自信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置信度均值 0.871，但各桶真实命中率 50.9%–58.3% 且毫无单调性——这是实验组设计的直接依据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65960"/>
          <a:ext cx="6675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19456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ongti"/>
                          <a:ea typeface="Songti"/>
                          <a:cs typeface="Songti"/>
                        </a:rPr>
                        <a:t>置信度桶</a:t>
                      </a:r>
                    </a:p>
                  </a:txBody>
                  <a:tcPr marT="12700" marB="12700"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ongti"/>
                          <a:ea typeface="Songti"/>
                          <a:cs typeface="Songti"/>
                        </a:rPr>
                        <a:t>信号数</a:t>
                      </a:r>
                    </a:p>
                  </a:txBody>
                  <a:tcPr marT="12700" marB="12700"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ongti"/>
                          <a:ea typeface="Songti"/>
                          <a:cs typeface="Songti"/>
                        </a:rPr>
                        <a:t>方向命中率</a:t>
                      </a:r>
                    </a:p>
                  </a:txBody>
                  <a:tcPr marT="12700" marB="12700" anchor="ctr">
                    <a:solidFill>
                      <a:srgbClr val="10B98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[0.5, 0.6)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446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58.3%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[0.6, 0.7)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709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50.9%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[0.7, 0.8)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746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54.3%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[0.8, 0.9)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712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54.1%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[0.9, 1.0)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4214（占61%）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4155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54.0%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43800" y="1965960"/>
            <a:ext cx="4114800" cy="2240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43800" y="1965960"/>
            <a:ext cx="4114800" cy="8229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2130552"/>
            <a:ext cx="37124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两个层次的同时失真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2569464"/>
            <a:ext cx="3712464" cy="14996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① 绝对失真：均值 0.871 vs 真实命中 54%——整体过度自信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② 排序失灵：命中率最高的反而是 [0.5,0.6) 桶——置信度分档没有区分度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389120"/>
            <a:ext cx="4114800" cy="1188720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52628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1">
                <a:solidFill>
                  <a:srgbClr val="10B981"/>
                </a:solidFill>
                <a:latin typeface="Hiragino Sans GB"/>
                <a:ea typeface="Hiragino Sans GB"/>
                <a:cs typeface="Hiragino Sans GB"/>
              </a:rPr>
              <a:t>结论：</a:t>
            </a:r>
            <a:r>
              <a:rPr sz="11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置信度只能作参考输入，须经凯利打折与硬约束双重衰减——实验组 B 将验证这一点。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AI </a:t>
            </a:r>
            <a:r>
              <a:rPr sz="125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的置信度不是仓位权重：未经验证的自信会放大为敞口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0B981"/>
                </a:solidFill>
                <a:latin typeface="Ma Shan Zheng"/>
                <a:ea typeface="Ma Shan Zheng"/>
                <a:cs typeface="Ma Shan Zheng"/>
              </a:rPr>
              <a:t>先校准，再分配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oefler Text"/>
                <a:ea typeface="Hoefler Text"/>
                <a:cs typeface="Hoefler Text"/>
              </a:rPr>
              <a:t>09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55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110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165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220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275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7" fill="hold">
                <p:stCondLst>
                  <p:cond evt="onBegin" delay="330"/>
                </p:stCondLst>
                <p:childTnLst>
                  <p:par>
                    <p:cTn id="2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0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2" fill="hold">
                <p:stCondLst>
                  <p:cond evt="onBegin" delay="385"/>
                </p:stCondLst>
                <p:childTnLst>
                  <p:par>
                    <p:cTn id="3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6" fill="hold">
                <p:stCondLst>
                  <p:cond evt="onBegin" delay="440"/>
                </p:stCondLst>
                <p:childTnLst>
                  <p:par>
                    <p:cTn id="3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0" fill="hold">
                <p:stCondLst>
                  <p:cond evt="onBegin" delay="495"/>
                </p:stCondLst>
                <p:childTnLst>
                  <p:par>
                    <p:cTn id="4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4" fill="hold">
                <p:stCondLst>
                  <p:cond evt="onBegin" delay="550"/>
                </p:stCondLst>
                <p:childTnLst>
                  <p:par>
                    <p:cTn id="4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8" fill="hold">
                <p:stCondLst>
                  <p:cond evt="onBegin" delay="605"/>
                </p:stCondLst>
                <p:childTnLst>
                  <p:par>
                    <p:cTn id="4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2" fill="hold">
                <p:stCondLst>
                  <p:cond evt="onBegin" delay="660"/>
                </p:stCondLst>
                <p:childTnLst>
                  <p:par>
                    <p:cTn id="5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6" fill="hold">
                <p:stCondLst>
                  <p:cond evt="onBegin" delay="715"/>
                </p:stCondLst>
                <p:childTnLst>
                  <p:par>
                    <p:cTn id="5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0" fill="hold">
                <p:stCondLst>
                  <p:cond evt="onBegin" delay="770"/>
                </p:stCondLst>
                <p:childTnLst>
                  <p:par>
                    <p:cTn id="6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4" fill="hold">
                <p:stCondLst>
                  <p:cond evt="onBegin" delay="825"/>
                </p:stCondLst>
                <p:childTnLst>
                  <p:par>
                    <p:cTn id="6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-1005840"/>
            <a:ext cx="2926080" cy="2926080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5120640"/>
            <a:ext cx="3474720" cy="3474720"/>
          </a:xfrm>
          <a:prstGeom prst="ellipse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657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1">
                <a:solidFill>
                  <a:srgbClr val="FFF7ED"/>
                </a:solidFill>
                <a:latin typeface="Hoefler Text"/>
                <a:ea typeface="Hoefler Text"/>
                <a:cs typeface="Hoefler Text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spc="160">
                <a:solidFill>
                  <a:srgbClr val="F97316"/>
                </a:solidFill>
                <a:latin typeface="Hoefler Text"/>
                <a:ea typeface="Hoefler Text"/>
                <a:cs typeface="Hoefler Text"/>
              </a:rPr>
              <a:t>FINDINGS &amp;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Hoefler Text"/>
                <a:ea typeface="Ma Shan Zheng"/>
                <a:cs typeface="Ma Shan Zheng"/>
              </a:rPr>
              <a:t>结果与发现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满仓组的成本之税：年化拖累 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8.8%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，风险预算组仅 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4.3%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389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样本外反转揭示保险的定价：看得见的机会成本，看不见的防御价值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2297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反事实检验：同时报告「移除干预」的不利情形，拒绝选择性报告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oefler Text"/>
                <a:ea typeface="Hoefler Text"/>
                <a:cs typeface="Hoefler Text"/>
              </a:rPr>
              <a:t>10 / 20</a:t>
            </a:r>
          </a:p>
        </p:txBody>
      </p:sp>
    </p:spTree>
  </p:cSld>
  <p:transition>
    <p:split>
      <p:dir val="in"/>
      <p:orient val="horz"/>
    </p:split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55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evt="onBegin" delay="110"/>
                </p:stCondLst>
                <p:childTnLst>
                  <p:par>
                    <p:cTn id="1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evt="onBegin" delay="165"/>
                </p:stCondLst>
                <p:childTnLst>
                  <p:par>
                    <p:cTn id="1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8" fill="hold">
                <p:stCondLst>
                  <p:cond evt="onBegin" delay="220"/>
                </p:stCondLst>
                <p:childTnLst>
                  <p:par>
                    <p:cTn id="1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2" fill="hold">
                <p:stCondLst>
                  <p:cond evt="onBegin" delay="275"/>
                </p:stCondLst>
                <p:childTnLst>
                  <p:par>
                    <p:cTn id="2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6" fill="hold">
                <p:stCondLst>
                  <p:cond evt="onBegin" delay="330"/>
                </p:stCondLst>
                <p:childTnLst>
                  <p:par>
                    <p:cTn id="2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0" fill="hold">
                <p:stCondLst>
                  <p:cond evt="onBegin" delay="385"/>
                </p:stCondLst>
                <p:childTnLst>
                  <p:par>
                    <p:cTn id="3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4" fill="hold">
                <p:stCondLst>
                  <p:cond evt="onBegin" delay="440"/>
                </p:stCondLst>
                <p:childTnLst>
                  <p:par>
                    <p:cTn id="3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8" fill="hold">
                <p:stCondLst>
                  <p:cond evt="onBegin" delay="495"/>
                </p:stCondLst>
                <p:childTnLst>
                  <p:par>
                    <p:cTn id="3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2" fill="hold">
                <p:stCondLst>
                  <p:cond evt="onBegin" delay="550"/>
                </p:stCondLst>
                <p:childTnLst>
                  <p:par>
                    <p:cTn id="4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03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结果与发现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全样本对照：同样的信号，完全不同的持有体验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410 个交易日 · 三组共用同一信号与规则约束 · 绩效差异全部归因于仓位规则</a:t>
            </a:r>
          </a:p>
        </p:txBody>
      </p:sp>
      <p:pic>
        <p:nvPicPr>
          <p:cNvPr id="8" name="Picture 7" descr="ppt_fig1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7406640" cy="351434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83879" y="1920240"/>
            <a:ext cx="35204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920240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20116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2563EB"/>
                </a:solidFill>
                <a:latin typeface="Hoefler Text"/>
                <a:ea typeface="Hoefler Text"/>
                <a:cs typeface="Hoefler Text"/>
              </a:rPr>
              <a:t>23.2% → 18.6%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39572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满仓组 vs 风险预算组 累计收益：约 4.6 个百分点的「保费」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3127248"/>
            <a:ext cx="35204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3127248"/>
            <a:ext cx="82296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321868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0B981"/>
                </a:solidFill>
                <a:latin typeface="Hoefler Text"/>
                <a:ea typeface="Hoefler Text"/>
                <a:cs typeface="Hoefler Text"/>
              </a:rPr>
              <a:t>-12.4% → -9.3%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602736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最大回撤被压缩 3.1 个百分点，卡玛 1.11 → 1.19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4334256"/>
            <a:ext cx="352044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4334256"/>
            <a:ext cx="82296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4425696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7C3AED"/>
                </a:solidFill>
                <a:latin typeface="Hoefler Text"/>
                <a:ea typeface="Hoefler Text"/>
                <a:cs typeface="Hoefler Text"/>
              </a:rPr>
              <a:t>0.70 → 0.34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809744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日均单边换手腰斩——省下的成本就是超额收益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集中不等于低风险：敞口匹配后回撤改善主要来自仓位更轻（报告 5.4）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97316"/>
                </a:solidFill>
                <a:latin typeface="Ma Shan Zheng"/>
                <a:ea typeface="Ma Shan Zheng"/>
                <a:cs typeface="Ma Shan Zheng"/>
              </a:rPr>
              <a:t>怎么买，比买什么更影响体验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oefler Text"/>
                <a:ea typeface="Hoefler Text"/>
                <a:cs typeface="Hoefler Text"/>
              </a:rPr>
              <a:t>11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55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110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165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220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275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2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26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8" fill="hold">
                <p:stCondLst>
                  <p:cond evt="onBegin" delay="330"/>
                </p:stCondLst>
                <p:childTnLst>
                  <p:par>
                    <p:cTn id="2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1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3" fill="hold">
                <p:stCondLst>
                  <p:cond evt="onBegin" delay="385"/>
                </p:stCondLst>
                <p:childTnLst>
                  <p:par>
                    <p:cTn id="3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7" fill="hold">
                <p:stCondLst>
                  <p:cond evt="onBegin" delay="440"/>
                </p:stCondLst>
                <p:childTnLst>
                  <p:par>
                    <p:cTn id="3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evt="onBegin" delay="495"/>
                </p:stCondLst>
                <p:childTnLst>
                  <p:par>
                    <p:cTn id="4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4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44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6" fill="hold">
                <p:stCondLst>
                  <p:cond evt="onBegin" delay="550"/>
                </p:stCondLst>
                <p:childTnLst>
                  <p:par>
                    <p:cTn id="4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5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4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1" fill="hold">
                <p:stCondLst>
                  <p:cond evt="onBegin" delay="605"/>
                </p:stCondLst>
                <p:childTnLst>
                  <p:par>
                    <p:cTn id="5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5" fill="hold">
                <p:stCondLst>
                  <p:cond evt="onBegin" delay="660"/>
                </p:stCondLst>
                <p:childTnLst>
                  <p:par>
                    <p:cTn id="5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9" fill="hold">
                <p:stCondLst>
                  <p:cond evt="onBegin" delay="715"/>
                </p:stCondLst>
                <p:childTnLst>
                  <p:par>
                    <p:cTn id="6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6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62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4" fill="hold">
                <p:stCondLst>
                  <p:cond evt="onBegin" delay="770"/>
                </p:stCondLst>
                <p:childTnLst>
                  <p:par>
                    <p:cTn id="6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6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67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9" fill="hold">
                <p:stCondLst>
                  <p:cond evt="onBegin" delay="825"/>
                </p:stCondLst>
                <p:childTnLst>
                  <p:par>
                    <p:cTn id="7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3" fill="hold">
                <p:stCondLst>
                  <p:cond evt="onBegin" delay="880"/>
                </p:stCondLst>
                <p:childTnLst>
                  <p:par>
                    <p:cTn id="7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7" fill="hold">
                <p:stCondLst>
                  <p:cond evt="onBegin" delay="935"/>
                </p:stCondLst>
                <p:childTnLst>
                  <p:par>
                    <p:cTn id="7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1" fill="hold">
                <p:stCondLst>
                  <p:cond evt="onBegin" delay="990"/>
                </p:stCondLst>
                <p:childTnLst>
                  <p:par>
                    <p:cTn id="8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5" fill="hold">
                <p:stCondLst>
                  <p:cond evt="onBegin" delay="1045"/>
                </p:stCondLst>
                <p:childTnLst>
                  <p:par>
                    <p:cTn id="8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9" fill="hold">
                <p:stCondLst>
                  <p:cond evt="onBegin" delay="1100"/>
                </p:stCondLst>
                <p:childTnLst>
                  <p:par>
                    <p:cTn id="9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3" fill="hold">
                <p:stCondLst>
                  <p:cond evt="onBegin" delay="1155"/>
                </p:stCondLst>
                <p:childTnLst>
                  <p:par>
                    <p:cTn id="9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03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结果与发现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交易成本是仓位规则的隐形税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5bp 看似微小，但满仓组日均换手 0.70——年化成本拖累 8.8 个百分点，足以吞掉微弱的预测力</a:t>
            </a:r>
          </a:p>
        </p:txBody>
      </p:sp>
      <p:pic>
        <p:nvPicPr>
          <p:cNvPr id="8" name="Picture 7" descr="ppt_fig2_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7406640" cy="256665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83879" y="1874519"/>
            <a:ext cx="3520440" cy="3520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874519"/>
            <a:ext cx="3520440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7" y="2039111"/>
            <a:ext cx="3118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教学要点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7" y="2478023"/>
            <a:ext cx="3118104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· 满仓组年化成本拖累 8.8%，风险预算组仅 4.3%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· 样本外上行段换手升至 0.91，拖累 11.4%——高频调仓的成本随行情放大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· 任何「预测很强」的信号，必须先过成本这一关才能变成收益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· 不做成本扣除的回测没有讨论价值（典型错误引导之一）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方向命中率 </a:t>
            </a: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54% </a:t>
            </a:r>
            <a:r>
              <a:rPr sz="125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的信号，在成本面前没有犯错的余地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97316"/>
                </a:solidFill>
                <a:latin typeface="Ma Shan Zheng"/>
                <a:ea typeface="Ma Shan Zheng"/>
                <a:cs typeface="Ma Shan Zheng"/>
              </a:rPr>
              <a:t>先算成本，再谈预测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oefler Text"/>
                <a:ea typeface="Hoefler Text"/>
                <a:cs typeface="Hoefler Text"/>
              </a:rPr>
              <a:t>12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55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110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165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220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275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7" fill="hold">
                <p:stCondLst>
                  <p:cond evt="onBegin" delay="330"/>
                </p:stCondLst>
                <p:childTnLst>
                  <p:par>
                    <p:cTn id="2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0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2" fill="hold">
                <p:stCondLst>
                  <p:cond evt="onBegin" delay="385"/>
                </p:stCondLst>
                <p:childTnLst>
                  <p:par>
                    <p:cTn id="3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6" fill="hold">
                <p:stCondLst>
                  <p:cond evt="onBegin" delay="440"/>
                </p:stCondLst>
                <p:childTnLst>
                  <p:par>
                    <p:cTn id="3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0" fill="hold">
                <p:stCondLst>
                  <p:cond evt="onBegin" delay="495"/>
                </p:stCondLst>
                <p:childTnLst>
                  <p:par>
                    <p:cTn id="4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4" fill="hold">
                <p:stCondLst>
                  <p:cond evt="onBegin" delay="550"/>
                </p:stCondLst>
                <p:childTnLst>
                  <p:par>
                    <p:cTn id="4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8" fill="hold">
                <p:stCondLst>
                  <p:cond evt="onBegin" delay="605"/>
                </p:stCondLst>
                <p:childTnLst>
                  <p:par>
                    <p:cTn id="4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2" fill="hold">
                <p:stCondLst>
                  <p:cond evt="onBegin" delay="660"/>
                </p:stCondLst>
                <p:childTnLst>
                  <p:par>
                    <p:cTn id="5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6" fill="hold">
                <p:stCondLst>
                  <p:cond evt="onBegin" delay="715"/>
                </p:stCondLst>
                <p:childTnLst>
                  <p:par>
                    <p:cTn id="5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03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结果与发现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样本外检验：风险预算是「有价格的保险」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后 30% 样本恰为蓝筹上行段——满仓组年化 41.3% vs 风险预算组 13.5%，但回撤 -4.1% vs -2.5%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5440680" cy="2834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440680" cy="8229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84831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Hiragino Sans GB"/>
                <a:cs typeface="Hiragino Sans GB"/>
              </a:rPr>
              <a:t>满仓等权（无预算）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87168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>
                <a:solidFill>
                  <a:srgbClr val="F43F5E"/>
                </a:solidFill>
                <a:latin typeface="Songti"/>
                <a:ea typeface="Songti"/>
                <a:cs typeface="Songti"/>
              </a:rPr>
              <a:t>年化 </a:t>
            </a:r>
            <a:r>
              <a:rPr sz="2500" b="1">
                <a:solidFill>
                  <a:srgbClr val="F43F5E"/>
                </a:solidFill>
                <a:latin typeface="Hoefler Text"/>
                <a:ea typeface="Songti"/>
                <a:cs typeface="Songti"/>
              </a:rPr>
              <a:t>41.3%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04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夏普 </a:t>
            </a:r>
            <a:r>
              <a:rPr sz="1250" b="1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2.71    </a:t>
            </a:r>
            <a:r>
              <a:rPr sz="1250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最大回撤 </a:t>
            </a:r>
            <a:r>
              <a:rPr sz="1250" b="1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-4.1%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0332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日均换手 0.91 · 成本拖累 11.4%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74519"/>
            <a:ext cx="5440680" cy="2834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874519"/>
            <a:ext cx="544068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084831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Hiragino Sans GB"/>
                <a:cs typeface="Hiragino Sans GB"/>
              </a:rPr>
              <a:t>1/4 </a:t>
            </a: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凯利 </a:t>
            </a:r>
            <a:r>
              <a:rPr sz="1250" b="1">
                <a:solidFill>
                  <a:srgbClr val="0F172A"/>
                </a:solidFill>
                <a:latin typeface="Hoefler Text"/>
                <a:ea typeface="Hiragino Sans GB"/>
                <a:cs typeface="Hiragino Sans GB"/>
              </a:rPr>
              <a:t>+ </a:t>
            </a: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回撤干预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87168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500" b="1">
                <a:solidFill>
                  <a:srgbClr val="10B981"/>
                </a:solidFill>
                <a:latin typeface="Songti"/>
                <a:ea typeface="Songti"/>
                <a:cs typeface="Songti"/>
              </a:rPr>
              <a:t>年化 </a:t>
            </a:r>
            <a:r>
              <a:rPr sz="2500" b="1">
                <a:solidFill>
                  <a:srgbClr val="10B981"/>
                </a:solidFill>
                <a:latin typeface="Hoefler Text"/>
                <a:ea typeface="Songti"/>
                <a:cs typeface="Songti"/>
              </a:rPr>
              <a:t>13.5%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004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夏普 </a:t>
            </a:r>
            <a:r>
              <a:rPr sz="1250" b="1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1.56    </a:t>
            </a:r>
            <a:r>
              <a:rPr sz="1250" b="1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最大回撤 </a:t>
            </a:r>
            <a:r>
              <a:rPr sz="1250" b="1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-2.5%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70332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日均换手 0.38 · 成本拖累 4.8%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92040"/>
            <a:ext cx="11109960" cy="56692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974336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F97316"/>
                </a:solidFill>
                <a:latin typeface="Hiragino Sans GB"/>
                <a:ea typeface="Hiragino Sans GB"/>
                <a:cs typeface="Hiragino Sans GB"/>
              </a:rPr>
              <a:t>这不是实验失败：</a:t>
            </a:r>
            <a:r>
              <a:rPr sz="11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保险的机会成本在平安时期「看得见」，防御价值在回撤时期才兑现——只看一个区间下结论，正是本案例要治的病。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样本外子区间 </a:t>
            </a: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C </a:t>
            </a:r>
            <a:r>
              <a:rPr sz="125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组落后 ≠ 风险预算失败：用保险定价的逻辑辩护或批评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97316"/>
                </a:solidFill>
                <a:latin typeface="Ma Shan Zheng"/>
                <a:ea typeface="Ma Shan Zheng"/>
                <a:cs typeface="Ma Shan Zheng"/>
              </a:rPr>
              <a:t>用两个区间说话，而不是一个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oefler Text"/>
                <a:ea typeface="Hoefler Text"/>
                <a:cs typeface="Hoefler Text"/>
              </a:rPr>
              <a:t>13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32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64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96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128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160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2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26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8" fill="hold">
                <p:stCondLst>
                  <p:cond evt="onBegin" delay="192"/>
                </p:stCondLst>
                <p:childTnLst>
                  <p:par>
                    <p:cTn id="2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2" fill="hold">
                <p:stCondLst>
                  <p:cond evt="onBegin" delay="224"/>
                </p:stCondLst>
                <p:childTnLst>
                  <p:par>
                    <p:cTn id="3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5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7" fill="hold">
                <p:stCondLst>
                  <p:cond evt="onBegin" delay="256"/>
                </p:stCondLst>
                <p:childTnLst>
                  <p:par>
                    <p:cTn id="3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evt="onBegin" delay="288"/>
                </p:stCondLst>
                <p:childTnLst>
                  <p:par>
                    <p:cTn id="4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5" fill="hold">
                <p:stCondLst>
                  <p:cond evt="onBegin" delay="320"/>
                </p:stCondLst>
                <p:childTnLst>
                  <p:par>
                    <p:cTn id="4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9" fill="hold">
                <p:stCondLst>
                  <p:cond evt="onBegin" delay="352"/>
                </p:stCondLst>
                <p:childTnLst>
                  <p:par>
                    <p:cTn id="5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3" fill="hold">
                <p:stCondLst>
                  <p:cond evt="onBegin" delay="384"/>
                </p:stCondLst>
                <p:childTnLst>
                  <p:par>
                    <p:cTn id="5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7" fill="hold">
                <p:stCondLst>
                  <p:cond evt="onBegin" delay="416"/>
                </p:stCondLst>
                <p:childTnLst>
                  <p:par>
                    <p:cTn id="5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1" fill="hold">
                <p:stCondLst>
                  <p:cond evt="onBegin" delay="448"/>
                </p:stCondLst>
                <p:childTnLst>
                  <p:par>
                    <p:cTn id="6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5" fill="hold">
                <p:stCondLst>
                  <p:cond evt="onBegin" delay="480"/>
                </p:stCondLst>
                <p:childTnLst>
                  <p:par>
                    <p:cTn id="6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9" fill="hold">
                <p:stCondLst>
                  <p:cond evt="onBegin" delay="512"/>
                </p:stCondLst>
                <p:childTnLst>
                  <p:par>
                    <p:cTn id="7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3" fill="hold">
                <p:stCondLst>
                  <p:cond evt="onBegin" delay="544"/>
                </p:stCondLst>
                <p:childTnLst>
                  <p:par>
                    <p:cTn id="7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7" fill="hold">
                <p:stCondLst>
                  <p:cond evt="onBegin" delay="576"/>
                </p:stCondLst>
                <p:childTnLst>
                  <p:par>
                    <p:cTn id="7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1" fill="hold">
                <p:stCondLst>
                  <p:cond evt="onBegin" delay="608"/>
                </p:stCondLst>
                <p:childTnLst>
                  <p:par>
                    <p:cTn id="8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5" fill="hold">
                <p:stCondLst>
                  <p:cond evt="onBegin" delay="640"/>
                </p:stCondLst>
                <p:childTnLst>
                  <p:par>
                    <p:cTn id="8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9" fill="hold">
                <p:stCondLst>
                  <p:cond evt="onBegin" delay="672"/>
                </p:stCondLst>
                <p:childTnLst>
                  <p:par>
                    <p:cTn id="9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3" fill="hold">
                <p:stCondLst>
                  <p:cond evt="onBegin" delay="704"/>
                </p:stCondLst>
                <p:childTnLst>
                  <p:par>
                    <p:cTn id="9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03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结果与发现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敏感性与反事实：干预的价值随仓位规模显现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凯利缩放 1/8 → 满仓 × 干预有无（无干预=反事实）：同一策略、同一数据，差异全部归因于干预机制</a:t>
            </a:r>
          </a:p>
        </p:txBody>
      </p:sp>
      <p:pic>
        <p:nvPicPr>
          <p:cNvPr id="8" name="Picture 7" descr="ppt_fig3_s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7406640" cy="3291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83879" y="1874519"/>
            <a:ext cx="3520440" cy="3520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874519"/>
            <a:ext cx="3520440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7" y="2039111"/>
            <a:ext cx="3118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三个梯度结论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7" y="2478023"/>
            <a:ext cx="3118104" cy="2779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· 1/8 凯利：仓位本轻，干预与否完全相同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· 1/2 凯利：干预把回撤从 -15.9% 压到 -12.3%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· 满仓凯利：无干预回撤 -15.7%，干预压回 -12.6%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· 但干预不是免费的：1/4 档收益 22.7%→18.6% 而回撤未变——预算线对轻仓位太松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仓位规模 × 干预线要成对设计：只调一个是新手做法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97316"/>
                </a:solidFill>
                <a:latin typeface="Ma Shan Zheng"/>
                <a:ea typeface="Ma Shan Zheng"/>
                <a:cs typeface="Ma Shan Zheng"/>
              </a:rPr>
              <a:t>保费要与敞口匹配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oefler Text"/>
                <a:ea typeface="Hoefler Text"/>
                <a:cs typeface="Hoefler Text"/>
              </a:rPr>
              <a:t>14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55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110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165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220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275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7" fill="hold">
                <p:stCondLst>
                  <p:cond evt="onBegin" delay="330"/>
                </p:stCondLst>
                <p:childTnLst>
                  <p:par>
                    <p:cTn id="2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0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2" fill="hold">
                <p:stCondLst>
                  <p:cond evt="onBegin" delay="385"/>
                </p:stCondLst>
                <p:childTnLst>
                  <p:par>
                    <p:cTn id="3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6" fill="hold">
                <p:stCondLst>
                  <p:cond evt="onBegin" delay="440"/>
                </p:stCondLst>
                <p:childTnLst>
                  <p:par>
                    <p:cTn id="3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0" fill="hold">
                <p:stCondLst>
                  <p:cond evt="onBegin" delay="495"/>
                </p:stCondLst>
                <p:childTnLst>
                  <p:par>
                    <p:cTn id="4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4" fill="hold">
                <p:stCondLst>
                  <p:cond evt="onBegin" delay="550"/>
                </p:stCondLst>
                <p:childTnLst>
                  <p:par>
                    <p:cTn id="4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8" fill="hold">
                <p:stCondLst>
                  <p:cond evt="onBegin" delay="605"/>
                </p:stCondLst>
                <p:childTnLst>
                  <p:par>
                    <p:cTn id="4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2" fill="hold">
                <p:stCondLst>
                  <p:cond evt="onBegin" delay="660"/>
                </p:stCondLst>
                <p:childTnLst>
                  <p:par>
                    <p:cTn id="5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6" fill="hold">
                <p:stCondLst>
                  <p:cond evt="onBegin" delay="715"/>
                </p:stCondLst>
                <p:childTnLst>
                  <p:par>
                    <p:cTn id="5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03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结果与发现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回撤预算线设在哪里？—— 干预线敏感性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固定 1/4 凯利，只移动预算线：-3% / -6% / -9%（全样本）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3611880" cy="3246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361188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84831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-3% </a:t>
            </a:r>
            <a:r>
              <a:rPr sz="135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预算线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1460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>
                <a:solidFill>
                  <a:srgbClr val="10B981"/>
                </a:solidFill>
                <a:latin typeface="Songti"/>
                <a:ea typeface="Songti"/>
                <a:cs typeface="Songti"/>
              </a:rPr>
              <a:t>卡玛比率 </a:t>
            </a:r>
            <a:r>
              <a:rPr sz="1900" b="1">
                <a:solidFill>
                  <a:srgbClr val="10B981"/>
                </a:solidFill>
                <a:latin typeface="Hoefler Text"/>
                <a:ea typeface="Songti"/>
                <a:cs typeface="Songti"/>
              </a:rPr>
              <a:t>1.49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09067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34155"/>
                </a:solidFill>
                <a:latin typeface="Songti"/>
                <a:ea typeface="Songti"/>
                <a:cs typeface="Songti"/>
              </a:rPr>
              <a:t>回撤 </a:t>
            </a:r>
            <a:r>
              <a:rPr sz="1100" b="1">
                <a:solidFill>
                  <a:srgbClr val="334155"/>
                </a:solidFill>
                <a:latin typeface="Hoefler Text"/>
                <a:ea typeface="Songti"/>
                <a:cs typeface="Songti"/>
              </a:rPr>
              <a:t>-7.7%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493008"/>
            <a:ext cx="3246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干预频繁、换手更高，把回撤真正压住了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1" y="1874519"/>
            <a:ext cx="3611880" cy="3246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1" y="1874519"/>
            <a:ext cx="36118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1999" y="2084831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-6% </a:t>
            </a:r>
            <a:r>
              <a:rPr sz="135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预算线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251460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>
                <a:solidFill>
                  <a:srgbClr val="2563EB"/>
                </a:solidFill>
                <a:latin typeface="Songti"/>
                <a:ea typeface="Songti"/>
                <a:cs typeface="Songti"/>
              </a:rPr>
              <a:t>卡玛比率 </a:t>
            </a:r>
            <a:r>
              <a:rPr sz="1900" b="1">
                <a:solidFill>
                  <a:srgbClr val="2563EB"/>
                </a:solidFill>
                <a:latin typeface="Hoefler Text"/>
                <a:ea typeface="Songti"/>
                <a:cs typeface="Songti"/>
              </a:rPr>
              <a:t>1.19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309067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34155"/>
                </a:solidFill>
                <a:latin typeface="Songti"/>
                <a:ea typeface="Songti"/>
                <a:cs typeface="Songti"/>
              </a:rPr>
              <a:t>回撤 </a:t>
            </a:r>
            <a:r>
              <a:rPr sz="1100" b="1">
                <a:solidFill>
                  <a:srgbClr val="334155"/>
                </a:solidFill>
                <a:latin typeface="Hoefler Text"/>
                <a:ea typeface="Songti"/>
                <a:cs typeface="Songti"/>
              </a:rPr>
              <a:t>-9.3%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493008"/>
            <a:ext cx="3246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触线即减半的软干预未能把回撤压进预算——留作改进作业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3023" y="1874519"/>
            <a:ext cx="3611880" cy="3246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93023" y="1874519"/>
            <a:ext cx="3611880" cy="82296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1" y="2084831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-9% </a:t>
            </a:r>
            <a:r>
              <a:rPr sz="135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预算线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1" y="251460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900" b="1">
                <a:solidFill>
                  <a:srgbClr val="64748B"/>
                </a:solidFill>
                <a:latin typeface="Songti"/>
                <a:ea typeface="Songti"/>
                <a:cs typeface="Songti"/>
              </a:rPr>
              <a:t>卡玛比率 </a:t>
            </a:r>
            <a:r>
              <a:rPr sz="1900" b="1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1.41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1" y="309067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334155"/>
                </a:solidFill>
                <a:latin typeface="Songti"/>
                <a:ea typeface="Songti"/>
                <a:cs typeface="Songti"/>
              </a:rPr>
              <a:t>回撤 </a:t>
            </a:r>
            <a:r>
              <a:rPr sz="1100" b="1">
                <a:solidFill>
                  <a:srgbClr val="334155"/>
                </a:solidFill>
                <a:latin typeface="Hoefler Text"/>
                <a:ea typeface="Songti"/>
                <a:cs typeface="Songti"/>
              </a:rPr>
              <a:t>-9.3%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1" y="3493008"/>
            <a:ext cx="3246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触发太少，干预机制名存实亡——太松等于没有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干预线不是越紧越好：正确的问题是「线的位置与仓位规模是否匹配」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F97316"/>
                </a:solidFill>
                <a:latin typeface="Ma Shan Zheng"/>
                <a:ea typeface="Ma Shan Zheng"/>
                <a:cs typeface="Ma Shan Zheng"/>
              </a:rPr>
              <a:t>成对设计，协同调参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97316"/>
                </a:solidFill>
                <a:latin typeface="Hoefler Text"/>
                <a:ea typeface="Hoefler Text"/>
                <a:cs typeface="Hoefler Text"/>
              </a:rPr>
              <a:t>15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32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64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96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128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160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2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26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8" fill="hold">
                <p:stCondLst>
                  <p:cond evt="onBegin" delay="192"/>
                </p:stCondLst>
                <p:childTnLst>
                  <p:par>
                    <p:cTn id="2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2" fill="hold">
                <p:stCondLst>
                  <p:cond evt="onBegin" delay="224"/>
                </p:stCondLst>
                <p:childTnLst>
                  <p:par>
                    <p:cTn id="3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5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7" fill="hold">
                <p:stCondLst>
                  <p:cond evt="onBegin" delay="256"/>
                </p:stCondLst>
                <p:childTnLst>
                  <p:par>
                    <p:cTn id="3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evt="onBegin" delay="288"/>
                </p:stCondLst>
                <p:childTnLst>
                  <p:par>
                    <p:cTn id="4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4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44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6" fill="hold">
                <p:stCondLst>
                  <p:cond evt="onBegin" delay="320"/>
                </p:stCondLst>
                <p:childTnLst>
                  <p:par>
                    <p:cTn id="4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0" fill="hold">
                <p:stCondLst>
                  <p:cond evt="onBegin" delay="352"/>
                </p:stCondLst>
                <p:childTnLst>
                  <p:par>
                    <p:cTn id="5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4" fill="hold">
                <p:stCondLst>
                  <p:cond evt="onBegin" delay="384"/>
                </p:stCondLst>
                <p:childTnLst>
                  <p:par>
                    <p:cTn id="5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8" fill="hold">
                <p:stCondLst>
                  <p:cond evt="onBegin" delay="416"/>
                </p:stCondLst>
                <p:childTnLst>
                  <p:par>
                    <p:cTn id="5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2" fill="hold">
                <p:stCondLst>
                  <p:cond evt="onBegin" delay="448"/>
                </p:stCondLst>
                <p:childTnLst>
                  <p:par>
                    <p:cTn id="6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6" fill="hold">
                <p:stCondLst>
                  <p:cond evt="onBegin" delay="480"/>
                </p:stCondLst>
                <p:childTnLst>
                  <p:par>
                    <p:cTn id="6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0" fill="hold">
                <p:stCondLst>
                  <p:cond evt="onBegin" delay="512"/>
                </p:stCondLst>
                <p:childTnLst>
                  <p:par>
                    <p:cTn id="7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4" fill="hold">
                <p:stCondLst>
                  <p:cond evt="onBegin" delay="544"/>
                </p:stCondLst>
                <p:childTnLst>
                  <p:par>
                    <p:cTn id="7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8" fill="hold">
                <p:stCondLst>
                  <p:cond evt="onBegin" delay="576"/>
                </p:stCondLst>
                <p:childTnLst>
                  <p:par>
                    <p:cTn id="7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2" fill="hold">
                <p:stCondLst>
                  <p:cond evt="onBegin" delay="608"/>
                </p:stCondLst>
                <p:childTnLst>
                  <p:par>
                    <p:cTn id="8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6" fill="hold">
                <p:stCondLst>
                  <p:cond evt="onBegin" delay="640"/>
                </p:stCondLst>
                <p:childTnLst>
                  <p:par>
                    <p:cTn id="8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0" fill="hold">
                <p:stCondLst>
                  <p:cond evt="onBegin" delay="672"/>
                </p:stCondLst>
                <p:childTnLst>
                  <p:par>
                    <p:cTn id="9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4" fill="hold">
                <p:stCondLst>
                  <p:cond evt="onBegin" delay="704"/>
                </p:stCondLst>
                <p:childTnLst>
                  <p:par>
                    <p:cTn id="9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8" fill="hold">
                <p:stCondLst>
                  <p:cond evt="onBegin" delay="736"/>
                </p:stCondLst>
                <p:childTnLst>
                  <p:par>
                    <p:cTn id="9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2" fill="hold">
                <p:stCondLst>
                  <p:cond evt="onBegin" delay="768"/>
                </p:stCondLst>
                <p:childTnLst>
                  <p:par>
                    <p:cTn id="10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6" fill="hold">
                <p:stCondLst>
                  <p:cond evt="onBegin" delay="800"/>
                </p:stCondLst>
                <p:childTnLst>
                  <p:par>
                    <p:cTn id="10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0" fill="hold">
                <p:stCondLst>
                  <p:cond evt="onBegin" delay="832"/>
                </p:stCondLst>
                <p:childTnLst>
                  <p:par>
                    <p:cTn id="11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1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1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-1005840"/>
            <a:ext cx="2926080" cy="2926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463040" y="5120640"/>
            <a:ext cx="3474720" cy="3474720"/>
          </a:xfrm>
          <a:prstGeom prst="ellipse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3657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600" b="1">
                <a:solidFill>
                  <a:srgbClr val="F5F3FF"/>
                </a:solidFill>
                <a:latin typeface="Hoefler Text"/>
                <a:ea typeface="Hoefler Text"/>
                <a:cs typeface="Hoefler Text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spc="160">
                <a:solidFill>
                  <a:srgbClr val="7C3AED"/>
                </a:solidFill>
                <a:latin typeface="Hoefler Text"/>
                <a:ea typeface="Hoefler Text"/>
                <a:cs typeface="Hoefler Text"/>
              </a:rPr>
              <a:t>TEACHING &amp;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F172A"/>
                </a:solidFill>
                <a:latin typeface="Hoefler Text"/>
                <a:ea typeface="Ma Shan Zheng"/>
                <a:cs typeface="Ma Shan Zheng"/>
              </a:rPr>
              <a:t>教学组织与评价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分层任务：基础必做 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/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进阶选做 </a:t>
            </a:r>
            <a:r>
              <a:rPr sz="1200" b="0">
                <a:solidFill>
                  <a:srgbClr val="334155"/>
                </a:solidFill>
                <a:latin typeface="Hoefler Text"/>
                <a:ea typeface="Hiragino Sans GB"/>
                <a:cs typeface="Hiragino Sans GB"/>
              </a:rPr>
              <a:t>/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挑战任务，结果不唯一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3892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典型错误引导：前视偏差 </a:t>
            </a: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忽略成本 </a:t>
            </a: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样本内偷看 </a:t>
            </a: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选择性报告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522976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四维评价量规：过程可追溯 </a:t>
            </a: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解释合理性 </a:t>
            </a: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实验完整性 </a:t>
            </a:r>
            <a:r>
              <a:rPr sz="1200" b="0">
                <a:solidFill>
                  <a:srgbClr val="334155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报告规范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Hoefler Text"/>
                <a:ea typeface="Hoefler Text"/>
                <a:cs typeface="Hoefler Text"/>
              </a:rPr>
              <a:t>16 / 20</a:t>
            </a:r>
          </a:p>
        </p:txBody>
      </p:sp>
    </p:spTree>
  </p:cSld>
  <p:transition>
    <p:split>
      <p:dir val="in"/>
      <p:orient val="horz"/>
    </p:split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55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evt="onBegin" delay="110"/>
                </p:stCondLst>
                <p:childTnLst>
                  <p:par>
                    <p:cTn id="1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evt="onBegin" delay="165"/>
                </p:stCondLst>
                <p:childTnLst>
                  <p:par>
                    <p:cTn id="1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8" fill="hold">
                <p:stCondLst>
                  <p:cond evt="onBegin" delay="220"/>
                </p:stCondLst>
                <p:childTnLst>
                  <p:par>
                    <p:cTn id="1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2" fill="hold">
                <p:stCondLst>
                  <p:cond evt="onBegin" delay="275"/>
                </p:stCondLst>
                <p:childTnLst>
                  <p:par>
                    <p:cTn id="2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6" fill="hold">
                <p:stCondLst>
                  <p:cond evt="onBegin" delay="330"/>
                </p:stCondLst>
                <p:childTnLst>
                  <p:par>
                    <p:cTn id="2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0" fill="hold">
                <p:stCondLst>
                  <p:cond evt="onBegin" delay="385"/>
                </p:stCondLst>
                <p:childTnLst>
                  <p:par>
                    <p:cTn id="3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4" fill="hold">
                <p:stCondLst>
                  <p:cond evt="onBegin" delay="440"/>
                </p:stCondLst>
                <p:childTnLst>
                  <p:par>
                    <p:cTn id="3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8" fill="hold">
                <p:stCondLst>
                  <p:cond evt="onBegin" delay="495"/>
                </p:stCondLst>
                <p:childTnLst>
                  <p:par>
                    <p:cTn id="3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2" fill="hold">
                <p:stCondLst>
                  <p:cond evt="onBegin" delay="550"/>
                </p:stCondLst>
                <p:childTnLst>
                  <p:par>
                    <p:cTn id="4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04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教学组织与评价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分层任务设计：每个学生都有可到达的「最近发展区」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必做保底、选做分层、挑战拔尖——实验结果不唯一，干预规则的设计空间向学生开放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3486150" cy="3520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3486150" cy="4389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38528"/>
            <a:ext cx="348615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Hoefler Text"/>
                <a:ea typeface="Hiragino Sans GB"/>
                <a:cs typeface="Hiragino Sans GB"/>
              </a:rPr>
              <a:t>基础任务（必做）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487168"/>
            <a:ext cx="312039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· 改进干预机制：替换「触线减半」，重跑全部实验并用数据论证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· 完整复现：从数据生成到结论一键重跑，验证与案例报告一致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0564" y="1874519"/>
            <a:ext cx="3489008" cy="3520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0564" y="1874519"/>
            <a:ext cx="3489008" cy="43891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0564" y="1938528"/>
            <a:ext cx="34890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Hoefler Text"/>
                <a:ea typeface="Hiragino Sans GB"/>
                <a:cs typeface="Hiragino Sans GB"/>
              </a:rPr>
              <a:t>进阶任务（选做）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1732" y="2487168"/>
            <a:ext cx="3123248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· 把信号命中率降到 50%（无预测力）重做实验，解释为何风险预算组相对抗跌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· 以卡玛比率为目标在（凯利缩放×预算线）网格上搜索，讨论是否过拟合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8169" y="1874519"/>
            <a:ext cx="3491865" cy="3520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18169" y="1874519"/>
            <a:ext cx="3491865" cy="43891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8169" y="1938528"/>
            <a:ext cx="349186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Hoefler Text"/>
                <a:ea typeface="Hiragino Sans GB"/>
                <a:cs typeface="Hiragino Sans GB"/>
              </a:rPr>
              <a:t>挑战任务（拔尖）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9337" y="2487168"/>
            <a:ext cx="3126105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· 接入真实公开信号源（或自研大模型信号）在相同规则下重跑，分解「信号质量」与「仓位规则」各自的绩效贡献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开放的干预规则设计空间 </a:t>
            </a: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= </a:t>
            </a:r>
            <a:r>
              <a:rPr sz="1250" b="1">
                <a:solidFill>
                  <a:srgbClr val="0F172A"/>
                </a:solidFill>
                <a:latin typeface="Songti"/>
                <a:ea typeface="Songti"/>
                <a:cs typeface="Songti"/>
              </a:rPr>
              <a:t>「结果不唯一」的评审要求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a Shan Zheng"/>
                <a:ea typeface="Ma Shan Zheng"/>
                <a:cs typeface="Ma Shan Zheng"/>
              </a:rPr>
              <a:t>人人有得做，拔尖有挑战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Hoefler Text"/>
                <a:ea typeface="Hoefler Text"/>
                <a:cs typeface="Hoefler Text"/>
              </a:rPr>
              <a:t>17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55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110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165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220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275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2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26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8" fill="hold">
                <p:stCondLst>
                  <p:cond evt="onBegin" delay="330"/>
                </p:stCondLst>
                <p:childTnLst>
                  <p:par>
                    <p:cTn id="2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2" fill="hold">
                <p:stCondLst>
                  <p:cond evt="onBegin" delay="385"/>
                </p:stCondLst>
                <p:childTnLst>
                  <p:par>
                    <p:cTn id="3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5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7" fill="hold">
                <p:stCondLst>
                  <p:cond evt="onBegin" delay="440"/>
                </p:stCondLst>
                <p:childTnLst>
                  <p:par>
                    <p:cTn id="3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evt="onBegin" delay="495"/>
                </p:stCondLst>
                <p:childTnLst>
                  <p:par>
                    <p:cTn id="4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4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44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6" fill="hold">
                <p:stCondLst>
                  <p:cond evt="onBegin" delay="550"/>
                </p:stCondLst>
                <p:childTnLst>
                  <p:par>
                    <p:cTn id="4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0" fill="hold">
                <p:stCondLst>
                  <p:cond evt="onBegin" delay="605"/>
                </p:stCondLst>
                <p:childTnLst>
                  <p:par>
                    <p:cTn id="5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4" fill="hold">
                <p:stCondLst>
                  <p:cond evt="onBegin" delay="660"/>
                </p:stCondLst>
                <p:childTnLst>
                  <p:par>
                    <p:cTn id="5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8" fill="hold">
                <p:stCondLst>
                  <p:cond evt="onBegin" delay="715"/>
                </p:stCondLst>
                <p:childTnLst>
                  <p:par>
                    <p:cTn id="5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2" fill="hold">
                <p:stCondLst>
                  <p:cond evt="onBegin" delay="770"/>
                </p:stCondLst>
                <p:childTnLst>
                  <p:par>
                    <p:cTn id="6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6" fill="hold">
                <p:stCondLst>
                  <p:cond evt="onBegin" delay="825"/>
                </p:stCondLst>
                <p:childTnLst>
                  <p:par>
                    <p:cTn id="6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0" fill="hold">
                <p:stCondLst>
                  <p:cond evt="onBegin" delay="880"/>
                </p:stCondLst>
                <p:childTnLst>
                  <p:par>
                    <p:cTn id="7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4" fill="hold">
                <p:stCondLst>
                  <p:cond evt="onBegin" delay="935"/>
                </p:stCondLst>
                <p:childTnLst>
                  <p:par>
                    <p:cTn id="7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8" fill="hold">
                <p:stCondLst>
                  <p:cond evt="onBegin" delay="990"/>
                </p:stCondLst>
                <p:childTnLst>
                  <p:par>
                    <p:cTn id="7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2" fill="hold">
                <p:stCondLst>
                  <p:cond evt="onBegin" delay="1045"/>
                </p:stCondLst>
                <p:childTnLst>
                  <p:par>
                    <p:cTn id="8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6" fill="hold">
                <p:stCondLst>
                  <p:cond evt="onBegin" delay="1100"/>
                </p:stCondLst>
                <p:childTnLst>
                  <p:par>
                    <p:cTn id="8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04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教学组织与评价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典型错误引导：实验前必读的四个坑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每个坑都给出「错误现象 → 为什么错 → 如何自查」的三段式排查路径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544068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82296" cy="16459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93391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坑 </a:t>
            </a:r>
            <a:r>
              <a:rPr sz="1250" b="1">
                <a:solidFill>
                  <a:srgbClr val="0F172A"/>
                </a:solidFill>
                <a:latin typeface="Hoefler Text"/>
                <a:ea typeface="Hiragino Sans GB"/>
                <a:cs typeface="Hiragino Sans GB"/>
              </a:rPr>
              <a:t>1</a:t>
            </a: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：前视偏差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50007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信号在 t 日收盘后生成，只能作用于 t+1 及以后收益；直接对齐 t 日收益会让所有策略虚高。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18103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0B981"/>
                </a:solidFill>
                <a:latin typeface="Hiragino Sans GB"/>
                <a:ea typeface="Hiragino Sans GB"/>
                <a:cs typeface="Hiragino Sans GB"/>
              </a:rPr>
              <a:t>自查：</a:t>
            </a: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检查信号生效时间是否对齐到「收盘后」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74519"/>
            <a:ext cx="544068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74519"/>
            <a:ext cx="82296" cy="16459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993391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坑 </a:t>
            </a:r>
            <a:r>
              <a:rPr sz="1250" b="1">
                <a:solidFill>
                  <a:srgbClr val="0F172A"/>
                </a:solidFill>
                <a:latin typeface="Hoefler Text"/>
                <a:ea typeface="Hiragino Sans GB"/>
                <a:cs typeface="Hiragino Sans GB"/>
              </a:rPr>
              <a:t>2</a:t>
            </a: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：忽略成本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350007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5bp 很小，但满仓组年化拖累 8.8 个百分点——不做成本扣除的回测没有讨论价值。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3118103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0B981"/>
                </a:solidFill>
                <a:latin typeface="Hiragino Sans GB"/>
                <a:ea typeface="Hiragino Sans GB"/>
                <a:cs typeface="Hiragino Sans GB"/>
              </a:rPr>
              <a:t>自查：</a:t>
            </a: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核对回测引擎是否在换仓日扣除换手×5bp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57600"/>
            <a:ext cx="544068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657600"/>
            <a:ext cx="82296" cy="16459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77647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坑 </a:t>
            </a:r>
            <a:r>
              <a:rPr sz="1250" b="1">
                <a:solidFill>
                  <a:srgbClr val="0F172A"/>
                </a:solidFill>
                <a:latin typeface="Hoefler Text"/>
                <a:ea typeface="Hiragino Sans GB"/>
                <a:cs typeface="Hiragino Sans GB"/>
              </a:rPr>
              <a:t>3</a:t>
            </a: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：样本内偷看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133088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用全样本估计凯利分数等于偷看答案，样本外检验形同虚设。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901184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0B981"/>
                </a:solidFill>
                <a:latin typeface="Hiragino Sans GB"/>
                <a:ea typeface="Hiragino Sans GB"/>
                <a:cs typeface="Hiragino Sans GB"/>
              </a:rPr>
              <a:t>自查：</a:t>
            </a: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确认所有参数只使用前 70% 样本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657600"/>
            <a:ext cx="544068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657600"/>
            <a:ext cx="82296" cy="16459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3776472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坑 </a:t>
            </a:r>
            <a:r>
              <a:rPr sz="1250" b="1">
                <a:solidFill>
                  <a:srgbClr val="0F172A"/>
                </a:solidFill>
                <a:latin typeface="Hoefler Text"/>
                <a:ea typeface="Hiragino Sans GB"/>
                <a:cs typeface="Hiragino Sans GB"/>
              </a:rPr>
              <a:t>4</a:t>
            </a:r>
            <a:r>
              <a:rPr sz="1250" b="1">
                <a:solidFill>
                  <a:srgbClr val="0F172A"/>
                </a:solidFill>
                <a:latin typeface="Hiragino Sans GB"/>
                <a:ea typeface="Hiragino Sans GB"/>
                <a:cs typeface="Hiragino Sans GB"/>
              </a:rPr>
              <a:t>：选择性报告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4133088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只展示「干预有效」的情形是评审最反感的做法。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901184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0B981"/>
                </a:solidFill>
                <a:latin typeface="Hiragino Sans GB"/>
                <a:ea typeface="Hiragino Sans GB"/>
                <a:cs typeface="Hiragino Sans GB"/>
              </a:rPr>
              <a:t>自查：</a:t>
            </a:r>
            <a:r>
              <a:rPr sz="950" b="0">
                <a:solidFill>
                  <a:srgbClr val="334155"/>
                </a:solidFill>
                <a:latin typeface="Hiragino Sans GB"/>
                <a:ea typeface="Hiragino Sans GB"/>
                <a:cs typeface="Hiragino Sans GB"/>
              </a:rPr>
              <a:t>同时报告反事实（移除干预）结果并讨论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把坑写进指导手册，是把「翻车点」变成「教学点」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a Shan Zheng"/>
                <a:ea typeface="Ma Shan Zheng"/>
                <a:cs typeface="Ma Shan Zheng"/>
              </a:rPr>
              <a:t>错误是最好的教具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Hoefler Text"/>
                <a:ea typeface="Hoefler Text"/>
                <a:cs typeface="Hoefler Text"/>
              </a:rPr>
              <a:t>18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32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64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96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128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160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2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26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8" fill="hold">
                <p:stCondLst>
                  <p:cond evt="onBegin" delay="192"/>
                </p:stCondLst>
                <p:childTnLst>
                  <p:par>
                    <p:cTn id="2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1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2" fill="hold">
                <p:stCondLst>
                  <p:cond evt="onBegin" delay="224"/>
                </p:stCondLst>
                <p:childTnLst>
                  <p:par>
                    <p:cTn id="3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5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7" fill="hold">
                <p:stCondLst>
                  <p:cond evt="onBegin" delay="256"/>
                </p:stCondLst>
                <p:childTnLst>
                  <p:par>
                    <p:cTn id="3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evt="onBegin" delay="288"/>
                </p:stCondLst>
                <p:childTnLst>
                  <p:par>
                    <p:cTn id="4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5" fill="hold">
                <p:stCondLst>
                  <p:cond evt="onBegin" delay="320"/>
                </p:stCondLst>
                <p:childTnLst>
                  <p:par>
                    <p:cTn id="4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9" fill="hold">
                <p:stCondLst>
                  <p:cond evt="onBegin" delay="352"/>
                </p:stCondLst>
                <p:childTnLst>
                  <p:par>
                    <p:cTn id="5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3" fill="hold">
                <p:stCondLst>
                  <p:cond evt="onBegin" delay="384"/>
                </p:stCondLst>
                <p:childTnLst>
                  <p:par>
                    <p:cTn id="5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57" fill="hold">
                <p:stCondLst>
                  <p:cond evt="onBegin" delay="416"/>
                </p:stCondLst>
                <p:childTnLst>
                  <p:par>
                    <p:cTn id="5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5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1" fill="hold">
                <p:stCondLst>
                  <p:cond evt="onBegin" delay="448"/>
                </p:stCondLst>
                <p:childTnLst>
                  <p:par>
                    <p:cTn id="6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6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5" fill="hold">
                <p:stCondLst>
                  <p:cond evt="onBegin" delay="480"/>
                </p:stCondLst>
                <p:childTnLst>
                  <p:par>
                    <p:cTn id="6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6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6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68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0" fill="hold">
                <p:stCondLst>
                  <p:cond evt="onBegin" delay="512"/>
                </p:stCondLst>
                <p:childTnLst>
                  <p:par>
                    <p:cTn id="7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73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4" fill="hold">
                <p:stCondLst>
                  <p:cond evt="onBegin" delay="544"/>
                </p:stCondLst>
                <p:childTnLst>
                  <p:par>
                    <p:cTn id="75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76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7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77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79" fill="hold">
                <p:stCondLst>
                  <p:cond evt="onBegin" delay="576"/>
                </p:stCondLst>
                <p:childTnLst>
                  <p:par>
                    <p:cTn id="8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3" fill="hold">
                <p:stCondLst>
                  <p:cond evt="onBegin" delay="608"/>
                </p:stCondLst>
                <p:childTnLst>
                  <p:par>
                    <p:cTn id="8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8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87" fill="hold">
                <p:stCondLst>
                  <p:cond evt="onBegin" delay="640"/>
                </p:stCondLst>
                <p:childTnLst>
                  <p:par>
                    <p:cTn id="8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1" fill="hold">
                <p:stCondLst>
                  <p:cond evt="onBegin" delay="672"/>
                </p:stCondLst>
                <p:childTnLst>
                  <p:par>
                    <p:cTn id="9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5" fill="hold">
                <p:stCondLst>
                  <p:cond evt="onBegin" delay="704"/>
                </p:stCondLst>
                <p:childTnLst>
                  <p:par>
                    <p:cTn id="9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9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99" fill="hold">
                <p:stCondLst>
                  <p:cond evt="onBegin" delay="736"/>
                </p:stCondLst>
                <p:childTnLst>
                  <p:par>
                    <p:cTn id="10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3" fill="hold">
                <p:stCondLst>
                  <p:cond evt="onBegin" delay="768"/>
                </p:stCondLst>
                <p:childTnLst>
                  <p:par>
                    <p:cTn id="10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0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7" fill="hold">
                <p:stCondLst>
                  <p:cond evt="onBegin" delay="800"/>
                </p:stCondLst>
                <p:childTnLst>
                  <p:par>
                    <p:cTn id="10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0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1" fill="hold">
                <p:stCondLst>
                  <p:cond evt="onBegin" delay="832"/>
                </p:stCondLst>
                <p:childTnLst>
                  <p:par>
                    <p:cTn id="1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5" fill="hold">
                <p:stCondLst>
                  <p:cond evt="onBegin" delay="864"/>
                </p:stCondLst>
                <p:childTnLst>
                  <p:par>
                    <p:cTn id="1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9" fill="hold">
                <p:stCondLst>
                  <p:cond evt="onBegin" delay="896"/>
                </p:stCondLst>
                <p:childTnLst>
                  <p:par>
                    <p:cTn id="1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Hoefler Text"/>
                <a:ea typeface="Songti"/>
                <a:cs typeface="Songti"/>
              </a:rPr>
              <a:t>04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· </a:t>
            </a:r>
            <a:r>
              <a:rPr sz="1200" b="0">
                <a:solidFill>
                  <a:srgbClr val="64748B"/>
                </a:solidFill>
                <a:latin typeface="Songti"/>
                <a:ea typeface="Songti"/>
                <a:cs typeface="Songti"/>
              </a:rPr>
              <a:t>教学组织与评价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858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四维评价量规：重过程、重解释，不重收益率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评分侧重「过程可追溯」与「解释合理性」——高收益不加分，不可复现扣大分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74519"/>
          <a:ext cx="11109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3291840"/>
                <a:gridCol w="2926080"/>
                <a:gridCol w="224028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ongti"/>
                          <a:ea typeface="Songti"/>
                          <a:cs typeface="Songti"/>
                        </a:rPr>
                        <a:t>维度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ongti"/>
                          <a:ea typeface="Songti"/>
                          <a:cs typeface="Songti"/>
                        </a:rPr>
                        <a:t>权重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ongti"/>
                          <a:ea typeface="Songti"/>
                          <a:cs typeface="Songti"/>
                        </a:rPr>
                        <a:t>优（90–100）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ongti"/>
                          <a:ea typeface="Songti"/>
                          <a:cs typeface="Songti"/>
                        </a:rPr>
                        <a:t>合格（60–75）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ongti"/>
                          <a:ea typeface="Songti"/>
                          <a:cs typeface="Songti"/>
                        </a:rPr>
                        <a:t>不合格（&lt;60）</a:t>
                      </a:r>
                    </a:p>
                  </a:txBody>
                  <a:tcPr marT="12700" marB="12700" anchor="ctr">
                    <a:solidFill>
                      <a:srgbClr val="7C3AE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过程可追溯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30%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每个数字可由代码一键复现，随机种子与参数全记录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主体可复现，个别参数缺失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结果无法重现或依赖手工录入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解释合理性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30%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结论与证据严格匹配，主动讨论反事实与局限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结论基本有据，局限讨论薄弱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结论脱离数据或回避不利证据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实验完整性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20%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对照+样本外+敏感性+反事实四件套齐全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缺一项但有替代论证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仅单一区间或单一参数下结论</a:t>
                      </a:r>
                    </a:p>
                  </a:txBody>
                  <a:tcPr marT="12700" marB="127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报告规范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oefler Text"/>
                          <a:ea typeface="Hoefler Text"/>
                          <a:cs typeface="Hoefler Text"/>
                        </a:rPr>
                        <a:t>20%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结构完整、图表清晰、匿名合规、口径一致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结构完整但图表粗糙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415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缺环节或出现身份信息</a:t>
                      </a:r>
                    </a:p>
                  </a:txBody>
                  <a:tcPr marT="12700" marB="127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696712"/>
            <a:ext cx="7863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F172A"/>
                </a:solidFill>
                <a:latin typeface="Hoefler Text"/>
                <a:ea typeface="Songti"/>
                <a:cs typeface="Songti"/>
              </a:rPr>
              <a:t>量规先行发布：学生知道怎么被评，才知道怎么学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5696712"/>
            <a:ext cx="2926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a Shan Zheng"/>
                <a:ea typeface="Ma Shan Zheng"/>
                <a:cs typeface="Ma Shan Zheng"/>
              </a:rPr>
              <a:t>评过程，不评运气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 · 虚拟仿真实验教学案例 · 教学指导配套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1908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Hoefler Text"/>
                <a:ea typeface="Hoefler Text"/>
                <a:cs typeface="Hoefler Text"/>
              </a:rPr>
              <a:t>19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55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9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Begin" delay="110"/>
                </p:stCondLst>
                <p:childTnLst>
                  <p:par>
                    <p:cTn id="1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165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220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275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7" fill="hold">
                <p:stCondLst>
                  <p:cond evt="onBegin" delay="330"/>
                </p:stCondLst>
                <p:childTnLst>
                  <p:par>
                    <p:cTn id="2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1" fill="hold">
                <p:stCondLst>
                  <p:cond evt="onBegin" delay="385"/>
                </p:stCondLst>
                <p:childTnLst>
                  <p:par>
                    <p:cTn id="3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5" fill="hold">
                <p:stCondLst>
                  <p:cond evt="onBegin" delay="440"/>
                </p:stCondLst>
                <p:childTnLst>
                  <p:par>
                    <p:cTn id="3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9" fill="hold">
                <p:stCondLst>
                  <p:cond evt="onBegin" delay="495"/>
                </p:stCondLst>
                <p:childTnLst>
                  <p:par>
                    <p:cTn id="4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2194560"/>
            <a:ext cx="5486400" cy="5486400"/>
          </a:xfrm>
          <a:prstGeom prst="ellipse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-1097280"/>
            <a:ext cx="2743200" cy="2743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914400"/>
            <a:ext cx="822960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spc="160">
                <a:solidFill>
                  <a:srgbClr val="94A3B8"/>
                </a:solidFill>
                <a:latin typeface="Hoefler Text"/>
                <a:ea typeface="Hoefler Text"/>
                <a:cs typeface="Hoefler Text"/>
              </a:rPr>
              <a:t>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Hoefler Text"/>
                <a:ea typeface="Ma Shan Zheng"/>
                <a:cs typeface="Ma Shan Zheng"/>
              </a:rPr>
              <a:t>结语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900" b="0">
                <a:solidFill>
                  <a:srgbClr val="CBD5E1"/>
                </a:solidFill>
                <a:latin typeface="Hoefler Text"/>
                <a:ea typeface="Songti"/>
                <a:cs typeface="Songti"/>
              </a:rPr>
              <a:t>让每一名学生在真金白银之前，先在虚拟仿真沙盘上亲历一次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Hoefler Text"/>
                <a:ea typeface="Songti"/>
                <a:cs typeface="Songti"/>
              </a:rPr>
              <a:t>「预测力 ≠ 盈利能力」的教训，带走一套可验证、可复核、可追溯的决策纪律。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434840"/>
            <a:ext cx="10515600" cy="18288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0B981"/>
                </a:solidFill>
                <a:latin typeface="Hoefler Text"/>
                <a:ea typeface="Songti"/>
                <a:cs typeface="Songti"/>
              </a:rPr>
              <a:t>AI </a:t>
            </a:r>
            <a:r>
              <a:rPr sz="1500" b="1">
                <a:solidFill>
                  <a:srgbClr val="10B981"/>
                </a:solidFill>
                <a:latin typeface="Songti"/>
                <a:ea typeface="Songti"/>
                <a:cs typeface="Songti"/>
              </a:rPr>
              <a:t>是外骨骼，扣动扳机的必须是懂风险预算的人。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Hoefler Text"/>
                <a:ea typeface="Songti"/>
                <a:cs typeface="Songti"/>
              </a:rPr>
              <a:t>感谢各位评委老师的聆听与指正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64748B"/>
                </a:solidFill>
                <a:latin typeface="Hiragino Sans GB"/>
                <a:ea typeface="Hiragino Sans GB"/>
                <a:cs typeface="Hiragino Sans GB"/>
              </a:rPr>
              <a:t>AI 选股信号该配多大仓位？——虚拟仿真下的风险预算干预实验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0" y="6400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Hoefler Text"/>
                <a:ea typeface="Hoefler Text"/>
                <a:cs typeface="Hoefler Text"/>
              </a:rPr>
              <a:t>20 / 20</a:t>
            </a:r>
          </a:p>
        </p:txBody>
      </p:sp>
    </p:spTree>
  </p:cSld>
  <p:transition>
    <p:fade/>
  </p:transition>
  <p:clrMapOvr>
    <a:masterClrMapping/>
  </p:clrMapOvr>
  <p:timing>
    <p:tnLst>
      <p:par>
        <p:cTn id="1" fill="hold">
          <p:stCondLst>
            <p:cond evt="onBegin" delay="0"/>
          </p:stCondLst>
          <p:childTnLst>
            <p:par>
              <p:cTn id="2" fill="hold">
                <p:stCondLst>
                  <p:cond evt="onBegin" delay="0"/>
                </p:stCondLst>
                <p:childTnLst>
                  <p:par>
                    <p:cTn id="3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5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evt="onBegin" delay="55"/>
                </p:stCondLst>
                <p:childTnLst>
                  <p:par>
                    <p:cTn id="7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8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9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evt="onBegin" delay="110"/>
                </p:stCondLst>
                <p:childTnLst>
                  <p:par>
                    <p:cTn id="11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2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1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13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5" fill="hold">
                <p:stCondLst>
                  <p:cond evt="onBegin" delay="165"/>
                </p:stCondLst>
                <p:childTnLst>
                  <p:par>
                    <p:cTn id="1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1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1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19" fill="hold">
                <p:stCondLst>
                  <p:cond evt="onBegin" delay="220"/>
                </p:stCondLst>
                <p:childTnLst>
                  <p:par>
                    <p:cTn id="20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1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2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3" fill="hold">
                <p:stCondLst>
                  <p:cond evt="onBegin" delay="275"/>
                </p:stCondLst>
                <p:childTnLst>
                  <p:par>
                    <p:cTn id="2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2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27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26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28" fill="hold">
                <p:stCondLst>
                  <p:cond evt="onBegin" delay="330"/>
                </p:stCondLst>
                <p:childTnLst>
                  <p:par>
                    <p:cTn id="29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0" fill="hold">
                            <p:stCondLst>
                              <p:cond evt="onBegin" delay="0"/>
                            </p:stCondLst>
                            <p:childTnLst>
                              <p:animEffect transition="false" filter="fly">
                                <p:cBhvr>
                                  <p:cTn id="32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  <p:prLst>
                                  <p:animPr>
                                    <p:cBhvr>
                                      <p:cTn id="31" fill="hold">
                                        <p:stCondLst>
                                          <p:cond evt="onBegin" delay="0"/>
                                        </p:stCondLst>
                                        <p:childTnLst>
                                          <p:animVariant>
                                            <p:str val="down"/>
                                          </p:animVariant>
                                        </p:childTnLst>
                                      </p:cTn>
                                    </p:cBhvr>
                                  </p:animPr>
                                </p:prLst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3" fill="hold">
                <p:stCondLst>
                  <p:cond evt="onBegin" delay="385"/>
                </p:stCondLst>
                <p:childTnLst>
                  <p:par>
                    <p:cTn id="34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5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36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37" fill="hold">
                <p:stCondLst>
                  <p:cond evt="onBegin" delay="440"/>
                </p:stCondLst>
                <p:childTnLst>
                  <p:par>
                    <p:cTn id="38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39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0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1" fill="hold">
                <p:stCondLst>
                  <p:cond evt="onBegin" delay="495"/>
                </p:stCondLst>
                <p:childTnLst>
                  <p:par>
                    <p:cTn id="42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3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4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  <p:par>
              <p:cTn id="45" fill="hold">
                <p:stCondLst>
                  <p:cond evt="onBegin" delay="550"/>
                </p:stCondLst>
                <p:childTnLst>
                  <p:par>
                    <p:cTn id="46" presetID="1" presetClass="entr" presetSubtype="0" fill="hold" nodeType="withEffect">
                      <p:stCondLst>
                        <p:cond evt="onBegin" delay="0"/>
                      </p:stCondLst>
                      <p:childTnLst>
                        <p:par>
                          <p:cTn id="47" fill="hold">
                            <p:stCondLst>
                              <p:cond evt="onBegin" delay="0"/>
                            </p:stCondLst>
                            <p:childTnLst>
                              <p:animEffect transition="false" filter="fade">
                                <p:cBhvr>
                                  <p:cTn id="48" fill="hold">
                                    <p:stCondLst>
                                      <p:cond evt="onBegin" delay="0"/>
                                    </p:stCondLst>
                                    <p:childTnLst>
                                      <p:animVariant>
                                        <p:float val="0.0"/>
                                      </p:animVariant>
                                      <p:tavLst>
                                        <p:tav tm="0" fld="0"/>
                                        <p:tav tm="100000" fld="1"/>
                                      </p:tavLst>
                                    </p:childTn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visibility</p:attrName>
                                  </p:attrNameLst>
                                </p:cBhvr>
                              </p:animEffect>
                            </p:childTnLst>
                            <p:effectLst/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