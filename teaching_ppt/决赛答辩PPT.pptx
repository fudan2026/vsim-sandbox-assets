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822960"/>
            <a:ext cx="2926080" cy="29260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48640"/>
            <a:ext cx="82296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601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Hiragino Sans GB"/>
                <a:ea typeface="Hiragino Sans GB"/>
              </a:rPr>
              <a:t>智享杯 · 全国大学生经济管理类实验案例分析大赛 · 国赛答辩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0F172A"/>
                </a:solidFill>
                <a:latin typeface="Hiragino Sans GB"/>
                <a:ea typeface="Hiragino Sans GB"/>
              </a:rPr>
              <a:t>AI 选股信号该配多大仓位？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2563EB"/>
                </a:solidFill>
                <a:latin typeface="Hiragino Sans GB"/>
                <a:ea typeface="Hiragino Sans GB"/>
              </a:rPr>
              <a:t>——虚拟仿真下的风险预算干预实验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Hoefler Text"/>
                <a:ea typeface="Hoefler Text"/>
              </a:rPr>
              <a:t>How Much Should an AI Signal Buy? A Virtual-Simulation Experiment on Risk-Budget Intervention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77639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23359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</a:rPr>
              <a:t>实验教学案例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3977639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4023359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</a:rPr>
              <a:t>数据分析案例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977639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4023359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</a:rPr>
              <a:t>在线 Notebook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77639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4023359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Hiragino Sans GB"/>
                <a:ea typeface="Hiragino Sans GB"/>
              </a:rPr>
              <a:t>一键复现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548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决赛答辩 · 西安交通大学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120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Hiragino Sans GB"/>
                <a:ea typeface="Hiragino Sans GB"/>
              </a:rPr>
              <a:t>团队：孙刘帅 · 张涵芮 · 乔鑫 · 周子涵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5216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</a:rPr>
              <a:t>虚拟仿真实验 · 教学演示，不构成投资建议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决赛答辩 · 西安交通大学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iragino Sans GB"/>
                <a:ea typeface="Hiragino Sans GB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64748B"/>
                </a:solidFill>
                <a:latin typeface="Hoefler Text"/>
                <a:ea typeface="Hoefler Text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Hiragino Sans GB"/>
                <a:ea typeface="Hiragino Sans GB"/>
              </a:rPr>
              <a:t>答辩路线 · 四个问题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Hiragino Sans GB"/>
                <a:ea typeface="Hiragino Sans GB"/>
              </a:rPr>
              <a:t>每个问题对应一组证据；全部数字可由 vx_verify.py 一键核验（24/24 锚点 PASS）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10607040" cy="77724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011680"/>
            <a:ext cx="82296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2157984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03704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2140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Hiragino Sans GB"/>
                <a:ea typeface="Hiragino Sans GB"/>
              </a:rPr>
              <a:t>问题是什么？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176272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Hiragino Sans GB"/>
                <a:ea typeface="Hiragino Sans GB"/>
              </a:rPr>
              <a:t>为什么「信号→仓位」是 AI 投研的最后一厘米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71800"/>
            <a:ext cx="10607040" cy="77724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971800"/>
            <a:ext cx="82296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118104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63824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08152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Hiragino Sans GB"/>
                <a:ea typeface="Hiragino Sans GB"/>
              </a:rPr>
              <a:t>怎么做的？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136392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Hiragino Sans GB"/>
                <a:ea typeface="Hiragino Sans GB"/>
              </a:rPr>
              <a:t>受控对照实验设计 + 五层变量控制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31920"/>
            <a:ext cx="10607040" cy="77724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931920"/>
            <a:ext cx="82296" cy="7772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1560" y="4078224"/>
            <a:ext cx="475488" cy="47548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123944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04164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Hiragino Sans GB"/>
                <a:ea typeface="Hiragino Sans GB"/>
              </a:rPr>
              <a:t>发现了什么？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096512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Hiragino Sans GB"/>
                <a:ea typeface="Hiragino Sans GB"/>
              </a:rPr>
              <a:t>三组对照 + 五项稳健性检验 + 敞口匹配自我证伪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892040"/>
            <a:ext cx="10607040" cy="77724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4892040"/>
            <a:ext cx="82296" cy="777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1560" y="5038344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084064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500176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0F172A"/>
                </a:solidFill>
                <a:latin typeface="Hiragino Sans GB"/>
                <a:ea typeface="Hiragino Sans GB"/>
              </a:rPr>
              <a:t>为什么重要？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5056632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Hiragino Sans GB"/>
                <a:ea typeface="Hiragino Sans GB"/>
              </a:rPr>
              <a:t>方法论示范 + 教学转化 + 可复现交付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决赛答辩 · 西安交通大学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iragino Sans GB"/>
                <a:ea typeface="Hiragino Sans GB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01 · 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三个真问题：AI 投研链条上被忽视的「最后一厘米」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大模型投研工作台批量进入券商与基金，但信号到资金之间的转化环节没有训练环境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1060704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82296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1920240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65960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7373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AI 说「买」，仓位该给多少？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1488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每日数百条观点与置信度，信号到仓位的转化全靠交易员手感，缺乏可训练、可考核的实验环境。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26080"/>
            <a:ext cx="1060704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926080"/>
            <a:ext cx="82296" cy="1143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246120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91840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0632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高置信度信号，值得重仓吗？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4747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未经校准的置信度直接映射为仓位，会把模型的过度自信放大为账户的过度敞口——谁来验证置信度的成色？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51960"/>
            <a:ext cx="1060704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251960"/>
            <a:ext cx="82296" cy="1143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1560" y="4572000"/>
            <a:ext cx="475488" cy="47548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617720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3891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iragino Sans GB"/>
                <a:ea typeface="Hiragino Sans GB"/>
              </a:rPr>
              <a:t>回撤触线时，谁来扣扳机？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8006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最大回撤预算往往只是写在风控手册里的红线，没有机制保证它在盘中被真正执行。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信号「准不准」已被讨论很多，信号「配多少」才是直接决定损益的环节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Hiragino Sans GB"/>
                <a:ea typeface="Hiragino Sans GB"/>
              </a:rPr>
              <a:t>教仓位决策 = 教风险预算官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决赛答辩 · 西安交通大学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iragino Sans GB"/>
                <a:ea typeface="Hiragino Sans GB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02 · 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受控对照实验：信号冻结，只变仓位规则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信号相同，则任何绩效差异都只能归因于仓位规则——干净识别因果关系的关键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3474720" cy="2103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347472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64792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满仓等权（无风险预算）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203704"/>
            <a:ext cx="3072384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有信号即 100% 等权持有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角色：「All in」的直觉做法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00200"/>
            <a:ext cx="3474720" cy="2103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00200"/>
            <a:ext cx="3474720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764792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置信度分档固定分数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203704"/>
            <a:ext cx="3072384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≥0.7 配 3 成；0.55–0.7 配 2 成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角色：置信度直接映射仓位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2103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347472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64792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1/4 凯利 + 回撤干预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03704"/>
            <a:ext cx="3072384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样本内估凯利×1/4；触 -6% 减半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角色：定量风险预算 + 主动干预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31920"/>
            <a:ext cx="10607040" cy="50292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00507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Hiragino Sans GB"/>
                <a:ea typeface="Hiragino Sans GB"/>
              </a:rPr>
              <a:t>硬约束：</a:t>
            </a:r>
            <a:r>
              <a:rPr sz="1050" b="0">
                <a:solidFill>
                  <a:srgbClr val="0F172A"/>
                </a:solidFill>
                <a:latin typeface="Hiragino Sans GB"/>
                <a:ea typeface="Hiragino Sans GB"/>
              </a:rPr>
              <a:t>单票上限 20% · 总仓上限 100% · 单边成本 5bp ｜ </a:t>
            </a:r>
            <a:r>
              <a:rPr sz="1050" b="1">
                <a:solidFill>
                  <a:srgbClr val="F43F5E"/>
                </a:solidFill>
                <a:latin typeface="Hiragino Sans GB"/>
                <a:ea typeface="Hiragino Sans GB"/>
              </a:rPr>
              <a:t>软触线：</a:t>
            </a:r>
            <a:r>
              <a:rPr sz="1050" b="0">
                <a:solidFill>
                  <a:srgbClr val="0F172A"/>
                </a:solidFill>
                <a:latin typeface="Hiragino Sans GB"/>
                <a:ea typeface="Hiragino Sans GB"/>
              </a:rPr>
              <a:t>回撤 -6% 触发减半（不保证不突破）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177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五层变量控制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2057400" cy="457200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047488"/>
            <a:ext cx="1874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Hiragino Sans GB"/>
                <a:ea typeface="Hiragino Sans GB"/>
              </a:rPr>
              <a:t>① 信号冻结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99232" y="4983480"/>
            <a:ext cx="2057400" cy="457200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90672" y="5047488"/>
            <a:ext cx="1874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Hiragino Sans GB"/>
                <a:ea typeface="Hiragino Sans GB"/>
              </a:rPr>
              <a:t>② 约束统一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75504" y="4983480"/>
            <a:ext cx="2057400" cy="457200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66944" y="5047488"/>
            <a:ext cx="1874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Hiragino Sans GB"/>
                <a:ea typeface="Hiragino Sans GB"/>
              </a:rPr>
              <a:t>③ 样本预登记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51775" y="4983480"/>
            <a:ext cx="2057400" cy="457200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6" y="5047488"/>
            <a:ext cx="1874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Hiragino Sans GB"/>
                <a:ea typeface="Hiragino Sans GB"/>
              </a:rPr>
              <a:t>④ 参数来源限定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28048" y="4983480"/>
            <a:ext cx="2057400" cy="457200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19488" y="5047488"/>
            <a:ext cx="1874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Hiragino Sans GB"/>
                <a:ea typeface="Hiragino Sans GB"/>
              </a:rPr>
              <a:t>⑤ 反事实对照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57784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Hiragino Sans GB"/>
                <a:ea typeface="Hiragino Sans GB"/>
              </a:rPr>
              <a:t>任何参数不得使用样本外信息：前 70% 估计，后 30% 检验 · 种子 20261029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决赛答辩 · 西安交通大学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iragino Sans GB"/>
                <a:ea typeface="Hiragino Sans GB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03 · 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全样本对照：同样的信号，不同的风险形态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410 个交易日 · 三组共用同一信号与规则约束 · 绩效差异全部归因于仓位规则</a:t>
            </a:r>
          </a:p>
        </p:txBody>
      </p:sp>
      <p:pic>
        <p:nvPicPr>
          <p:cNvPr id="7" name="Picture 6" descr="fig1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858000" cy="3505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600200"/>
            <a:ext cx="393192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0" y="1600200"/>
            <a:ext cx="82296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7335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563EB"/>
                </a:solidFill>
                <a:latin typeface="Hoefler Text"/>
                <a:ea typeface="Hoefler Text"/>
              </a:rPr>
              <a:t>23.2% → 18.6%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03911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满仓 vs 风险预算：约 4.6 pp「保费」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560320"/>
            <a:ext cx="393192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0" y="2560320"/>
            <a:ext cx="82296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263347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10B981"/>
                </a:solidFill>
                <a:latin typeface="Hoefler Text"/>
                <a:ea typeface="Hoefler Text"/>
              </a:rPr>
              <a:t>-12.4% → -9.3%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99923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回撤压缩 3.1 pp，卡玛 1.11 → 1.19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3520440"/>
            <a:ext cx="393192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80960" y="3520440"/>
            <a:ext cx="82296" cy="777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359359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7C3AED"/>
                </a:solidFill>
                <a:latin typeface="Hoefler Text"/>
                <a:ea typeface="Hoefler Text"/>
              </a:rPr>
              <a:t>0.70 → 0.34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95935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换手腰斩——省下的成本就是超额收益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4480560"/>
            <a:ext cx="393192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4480560"/>
            <a:ext cx="82296" cy="7772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455371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97316"/>
                </a:solidFill>
                <a:latin typeface="Hoefler Text"/>
                <a:ea typeface="Hoefler Text"/>
              </a:rPr>
              <a:t>8.8% → 4.3%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91947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</a:rPr>
              <a:t>年化成本拖累减半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敞口匹配后回撤改善主要来自仓位更轻（报告 5.4）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Hiragino Sans GB"/>
                <a:ea typeface="Hiragino Sans GB"/>
              </a:rPr>
              <a:t>怎么买，比买什么更影响体验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决赛答辩 · 西安交通大学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iragino Sans GB"/>
                <a:ea typeface="Hiragino Sans GB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03 · 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样本外检验：风险预算是「有价格的保险」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后 30% 恰为蓝筹上行段——满仓组年化 41.3% vs 风险预算组 13.5%，但回撤 -4.1% vs -2.5%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5029200" cy="2011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54480"/>
            <a:ext cx="5029200" cy="8229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19072"/>
            <a:ext cx="46268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满仓等权（无预算）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157984"/>
            <a:ext cx="4626864" cy="1271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年化 41.3%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夏普 2.71 · 最大回撤 -4.1%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日均换手 0.91 · 成本拖累 11.4%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029200" cy="2011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502920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719072"/>
            <a:ext cx="46268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iragino Sans GB"/>
                <a:ea typeface="Hiragino Sans GB"/>
              </a:rPr>
              <a:t>1/4 凯利 + 回撤干预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157984"/>
            <a:ext cx="4626864" cy="1271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年化 13.5%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夏普 1.56 · 最大回撤 -2.5%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日均换手 0.38 · 成本拖累 4.8%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40480"/>
            <a:ext cx="10607040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13632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Hiragino Sans GB"/>
                <a:ea typeface="Hiragino Sans GB"/>
              </a:rPr>
              <a:t>这不是实验失败：保险的机会成本在平安时期看得见，防御价值在回撤时期才兑现——只看一个区间下结论，正是本案例要治的病。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样本外子区间 C 组落后 ≠ 风险预算失败：用保险定价的逻辑辩护或批评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Hiragino Sans GB"/>
                <a:ea typeface="Hiragino Sans GB"/>
              </a:rPr>
              <a:t>用两个区间说话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决赛答辩 · 西安交通大学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iragino Sans GB"/>
                <a:ea typeface="Hiragino Sans GB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03 · 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敏感性与反事实：干预的价值随仓位规模显现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凯利缩放 1/8 → 满仓 × 干预有无（无干预=反事实）：差异全部归因于干预机制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10607040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54480"/>
            <a:ext cx="82296" cy="640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91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Hiragino Sans GB"/>
                <a:ea typeface="Hiragino Sans GB"/>
              </a:rPr>
              <a:t>1/8 凯利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69164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Hiragino Sans GB"/>
                <a:ea typeface="Hiragino Sans GB"/>
              </a:rPr>
              <a:t>仓位本轻，干预与否完全相同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31720"/>
            <a:ext cx="10607040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331720"/>
            <a:ext cx="82296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4688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0B981"/>
                </a:solidFill>
                <a:latin typeface="Hiragino Sans GB"/>
                <a:ea typeface="Hiragino Sans GB"/>
              </a:rPr>
              <a:t>1/2 凯利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46888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Hiragino Sans GB"/>
                <a:ea typeface="Hiragino Sans GB"/>
              </a:rPr>
              <a:t>干预把回撤从 -15.9% 压到 -12.3%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108960"/>
            <a:ext cx="10607040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108960"/>
            <a:ext cx="82296" cy="6400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2461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97316"/>
                </a:solidFill>
                <a:latin typeface="Hiragino Sans GB"/>
                <a:ea typeface="Hiragino Sans GB"/>
              </a:rPr>
              <a:t>满仓凯利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24612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Hiragino Sans GB"/>
                <a:ea typeface="Hiragino Sans GB"/>
              </a:rPr>
              <a:t>无干预回撤 -15.7%，干预压回 -12.6%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886200"/>
            <a:ext cx="10607040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886200"/>
            <a:ext cx="82296" cy="64008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0233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43F5E"/>
                </a:solidFill>
                <a:latin typeface="Hiragino Sans GB"/>
                <a:ea typeface="Hiragino Sans GB"/>
              </a:rPr>
              <a:t>1/4 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02336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334155"/>
                </a:solidFill>
                <a:latin typeface="Hiragino Sans GB"/>
                <a:ea typeface="Hiragino Sans GB"/>
              </a:rPr>
              <a:t>收益 22.7%→18.6% 而回撤未变——预算线对轻仓位太松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仓位规模 × 干预线要成对设计：只调一个是新手做法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Hiragino Sans GB"/>
                <a:ea typeface="Hiragino Sans GB"/>
              </a:rPr>
              <a:t>保费要与敞口匹配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决赛答辩 · 西安交通大学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iragino Sans GB"/>
                <a:ea typeface="Hiragino Sans GB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04 · 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成本扫描：策略排序是成本的函数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单边成本 0 / 2.5 / 5 / 7 / 10bp——7bp 为「5bp 佣金 + 2bp 滑点冲击」的含滑点情景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00200"/>
          <a:ext cx="68122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60120"/>
                <a:gridCol w="914400"/>
                <a:gridCol w="960120"/>
                <a:gridCol w="914400"/>
                <a:gridCol w="96012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单边成本(bp)</a:t>
                      </a:r>
                    </a:p>
                  </a:txBody>
                  <a:tcPr marT="12700" marB="127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A 累计</a:t>
                      </a:r>
                    </a:p>
                  </a:txBody>
                  <a:tcPr marT="12700" marB="127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A 夏普</a:t>
                      </a:r>
                    </a:p>
                  </a:txBody>
                  <a:tcPr marT="12700" marB="127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B 累计</a:t>
                      </a:r>
                    </a:p>
                  </a:txBody>
                  <a:tcPr marT="12700" marB="127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B 夏普</a:t>
                      </a:r>
                    </a:p>
                  </a:txBody>
                  <a:tcPr marT="12700" marB="127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C 累计</a:t>
                      </a:r>
                    </a:p>
                  </a:txBody>
                  <a:tcPr marT="12700" marB="127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C 夏普</a:t>
                      </a:r>
                    </a:p>
                  </a:txBody>
                  <a:tcPr marT="12700" marB="12700" anchor="ctr"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56.3%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1.16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58.8%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1.21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29.1%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0.90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2.5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48.0%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0.99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48.0%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0.99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25.7%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0.78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5（基准）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23.2%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0.70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22.8%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0.68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18.6%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0.55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7（5+2 滑点）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14.9%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0.42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15.8%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0.45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15.6%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0.45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10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8.3%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0.19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7.2%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0.15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12.0%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0.32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46720" y="173736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F43F5E"/>
                </a:solidFill>
                <a:latin typeface="Hiragino Sans GB"/>
                <a:ea typeface="Hiragino Sans GB"/>
              </a:rPr>
              <a:t>排序反转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286000"/>
            <a:ext cx="3474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10bp 时 C 组夏普 0.32 反超 A（0.19）、B（0.15）——低换手规则在非线性冲击下优势扩大（凸性冲击：C 组卡玛 0.88 为 A/B 的两倍）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仓位规则的选择，本质是换手率预算的选择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Hiragino Sans GB"/>
                <a:ea typeface="Hiragino Sans GB"/>
              </a:rPr>
              <a:t>滑点不改变排序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决赛答辩 · 西安交通大学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iragino Sans GB"/>
                <a:ea typeface="Hiragino Sans GB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04 · 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置信度治理：再校准能修复什么、不能修复什么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样本内固定宽度十桶校准 → 样本外验证（严格 OOS）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1060704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54480"/>
            <a:ext cx="82296" cy="65836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2763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Hiragino Sans GB"/>
                <a:ea typeface="Hiragino Sans GB"/>
              </a:rPr>
              <a:t>IC 均值 0.062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64208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ICIR 0.249 · t 值 5.04 · IC&gt;0 占比 60.1%——预测力微弱但统计显著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77440"/>
            <a:ext cx="1060704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37744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45059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0B981"/>
                </a:solidFill>
                <a:latin typeface="Hiragino Sans GB"/>
                <a:ea typeface="Hiragino Sans GB"/>
              </a:rPr>
              <a:t>再校准 0.221 → 0.089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87168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平均校准误差下降 60%——「说的」修好了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00400"/>
            <a:ext cx="1060704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200400"/>
            <a:ext cx="82296" cy="65836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27355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43F5E"/>
                </a:solidFill>
                <a:latin typeface="Hiragino Sans GB"/>
                <a:ea typeface="Hiragino Sans GB"/>
              </a:rPr>
              <a:t>桶间区分度不变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310128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再校准是保序替换，只修标签不改排序——「知的」修不了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023360"/>
            <a:ext cx="1060704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023360"/>
            <a:ext cx="82296" cy="65836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09651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97316"/>
                </a:solidFill>
                <a:latin typeface="Hiragino Sans GB"/>
                <a:ea typeface="Hiragino Sans GB"/>
              </a:rPr>
              <a:t>分布漂移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133088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样本外置信度均值 0.876→0.860；12.7% 跌破样本内 P10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再校准能修复「模型说的」，修复不了「模型知的」——置信度驱动仓位取决于桶间区分度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Hiragino Sans GB"/>
                <a:ea typeface="Hiragino Sans GB"/>
              </a:rPr>
              <a:t>先问 IC，再谈仓位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决赛答辩 · 西安交通大学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iragino Sans GB"/>
                <a:ea typeface="Hiragino Sans GB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04 · 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平均敞口匹配基准：风险预算的第一杠杆是仓位规模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回应「回撤更低是否只因仓位更轻「——补上基准后，主动修正结论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00200"/>
          <a:ext cx="69037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68680"/>
                <a:gridCol w="868680"/>
                <a:gridCol w="868680"/>
                <a:gridCol w="868680"/>
                <a:gridCol w="86868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基准</a:t>
                      </a:r>
                    </a:p>
                  </a:txBody>
                  <a:tcPr marT="12700" marB="127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累计</a:t>
                      </a:r>
                    </a:p>
                  </a:txBody>
                  <a:tcPr marT="12700" marB="127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夏普</a:t>
                      </a:r>
                    </a:p>
                  </a:txBody>
                  <a:tcPr marT="12700" marB="127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回撤</a:t>
                      </a:r>
                    </a:p>
                  </a:txBody>
                  <a:tcPr marT="12700" marB="127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卡玛</a:t>
                      </a:r>
                    </a:p>
                  </a:txBody>
                  <a:tcPr marT="12700" marB="127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</a:rPr>
                        <a:t>敞口</a:t>
                      </a:r>
                    </a:p>
                  </a:txBody>
                  <a:tcPr marT="12700" marB="12700" anchor="ctr"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S 静态等权（敞口匹配 C，无干预）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18.1%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0.74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-7.3%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1.46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43.8%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C 1/4凯利+回撤干预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18.6%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0.55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-9.3%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1.19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43.8%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C' 1/4凯利（无干预）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22.7%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0.68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-9.3%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1.44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48.5%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</a:rPr>
                        <a:t>A 满仓等权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23.2%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0.70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-12.4%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1.11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</a:rPr>
                        <a:t>77.7%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46720" y="173736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F43F5E"/>
                </a:solidFill>
                <a:latin typeface="Hiragino Sans GB"/>
                <a:ea typeface="Hiragino Sans GB"/>
              </a:rPr>
              <a:t>自我证伪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286000"/>
            <a:ext cx="3474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同敞口下 S 回撤 -7.3% 优于 C 的 -9.3%——凯利组优势全部来自仓位更轻。
如果基准能推翻结论，就必须补上基准并如实报告。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三层排序：平均敞口 ＞ 持仓分散度 ＞ 触发式干预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43F5E"/>
                </a:solidFill>
                <a:latin typeface="Hiragino Sans GB"/>
                <a:ea typeface="Hiragino Sans GB"/>
              </a:rPr>
              <a:t>先管住总仓位，再谈分散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决赛答辩 · 西安交通大学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iragino Sans GB"/>
                <a:ea typeface="Hiragino Sans GB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iragino Sans GB"/>
                <a:ea typeface="Hiragino Sans GB"/>
              </a:rPr>
              <a:t>04 · 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iragino Sans GB"/>
                <a:ea typeface="Hiragino Sans GB"/>
              </a:rPr>
              <a:t>方法论示范 + 教学转化 + 可复现交付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</a:rPr>
              <a:t>对照官方评分标准的 12 个观测点逐条对齐；vx_verify 24/24 锚点 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10607040" cy="731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554480"/>
            <a:ext cx="82296" cy="7315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2763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  <a:latin typeface="Hiragino Sans GB"/>
                <a:ea typeface="Hiragino Sans GB"/>
              </a:rPr>
              <a:t>五项可验证证据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64208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多策略对照 · 样本外 · 反事实 · 可解释归因 · 复现能力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423160"/>
            <a:ext cx="10607040" cy="731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423160"/>
            <a:ext cx="82296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49631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0B981"/>
                </a:solidFill>
                <a:latin typeface="Hiragino Sans GB"/>
                <a:ea typeface="Hiragino Sans GB"/>
              </a:rPr>
              <a:t>诚实边界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32888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滑点已做 7bp + 凸性情景 · 真实动量信号替换验证框架 · 三条局限逐条披露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91840"/>
            <a:ext cx="10607040" cy="731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291840"/>
            <a:ext cx="82296" cy="7315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36499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97316"/>
                </a:solidFill>
                <a:latin typeface="Hiragino Sans GB"/>
                <a:ea typeface="Hiragino Sans GB"/>
              </a:rPr>
              <a:t>教学转化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01568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分层任务 · 典型错误引导 · 四维量规 · 前后测 · 交互式参数实验室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10607040" cy="731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160520"/>
            <a:ext cx="82296" cy="7315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23367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7C3AED"/>
                </a:solidFill>
                <a:latin typeface="Hiragino Sans GB"/>
                <a:ea typeface="Hiragino Sans GB"/>
              </a:rPr>
              <a:t>可复现交付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270248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</a:rPr>
              <a:t>种子 20261029 · vx_verify 24/24 · 15 个结果 CSV · 47→56 单元 Notebook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</a:rPr>
              <a:t>自评 99.9/100：不是因为完美，而是因为敢于把不完美写出来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Hiragino Sans GB"/>
                <a:ea typeface="Hiragino Sans GB"/>
              </a:rPr>
              <a:t>两处各留 0.05 分边界缺口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决赛答辩 · 西安交通大学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iragino Sans GB"/>
                <a:ea typeface="Hiragino Sans GB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1005840"/>
            <a:ext cx="2926080" cy="29260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Hoefler Text"/>
                <a:ea typeface="Hoefler Text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Hiragino Sans GB"/>
                <a:ea typeface="Hiragino Sans GB"/>
              </a:rPr>
              <a:t>结语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334155"/>
                </a:solidFill>
                <a:latin typeface="Hiragino Sans GB"/>
                <a:ea typeface="Hiragino Sans GB"/>
              </a:rPr>
              <a:t>让每一名学生在真金白银之前，先在虚拟仿真沙盘上亲历一次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>
                <a:solidFill>
                  <a:srgbClr val="334155"/>
                </a:solidFill>
                <a:latin typeface="Hiragino Sans GB"/>
                <a:ea typeface="Hiragino Sans GB"/>
              </a:rPr>
              <a:t>「预测力 ≠ 盈利能力」的教训，带走一套可验证、可复核、可追溯的决策纪律。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0F172A"/>
                </a:solidFill>
                <a:latin typeface="Hoefler Text"/>
                <a:ea typeface="Hoefler Text"/>
              </a:rPr>
              <a:t>AI 是外骨骼，扣动扳机的必须是懂风险预算的人。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Hiragino Sans GB"/>
                <a:ea typeface="Hiragino Sans GB"/>
              </a:rPr>
              <a:t>感谢各位评委老师的聆听与指正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864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选股信号该配多大仓位？——虚拟仿真下的风险预算干预实验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Hiragino Sans GB"/>
                <a:ea typeface="Hiragino Sans GB"/>
              </a:rPr>
              <a:t>AI 选股信号该配多大仓位？ · 决赛答辩 · 西安交通大学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iragino Sans GB"/>
                <a:ea typeface="Hiragino Sans GB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