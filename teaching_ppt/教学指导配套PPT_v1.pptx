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1E4FA8"/>
                </a:solidFill>
                <a:latin typeface="Microsoft YaHei"/>
                <a:ea typeface="Microsoft YaHei"/>
              </a:rPr>
              <a:t>智享杯 · 全国大学生经济管理类实验案例分析大赛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000" b="1">
                <a:solidFill>
                  <a:srgbClr val="1A2230"/>
                </a:solidFill>
                <a:latin typeface="Microsoft YaHei"/>
                <a:ea typeface="Microsoft YaHei"/>
              </a:rPr>
              <a:t>AI 选股信号该配多大仓位？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E3F8C"/>
                </a:solidFill>
                <a:latin typeface="Microsoft YaHei"/>
                <a:ea typeface="Microsoft YaHei"/>
              </a:rPr>
              <a:t>——虚拟仿真下的风险预算干预实验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1012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8B97A8"/>
                </a:solidFill>
                <a:latin typeface="Microsoft YaHei"/>
                <a:ea typeface="Microsoft YaHei"/>
              </a:rPr>
              <a:t>How Much Should an AI Signal Buy? A Virtual-Simulation Experiment on Risk-Budget Intervention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114800"/>
            <a:ext cx="1920240" cy="18288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52628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8B97A8"/>
                </a:solidFill>
                <a:latin typeface="Microsoft YaHei"/>
                <a:ea typeface="Microsoft YaHei"/>
              </a:rPr>
              <a:t>案例类别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4632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1A2230"/>
                </a:solidFill>
                <a:latin typeface="Microsoft YaHei"/>
                <a:ea typeface="Microsoft YaHei"/>
              </a:rPr>
              <a:t>实验教学案例 · 数据分析案例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52628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8B97A8"/>
                </a:solidFill>
                <a:latin typeface="Microsoft YaHei"/>
                <a:ea typeface="Microsoft YaHei"/>
              </a:rPr>
              <a:t>适用课程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84632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1A2230"/>
                </a:solidFill>
                <a:latin typeface="Microsoft YaHei"/>
                <a:ea typeface="Microsoft YaHei"/>
              </a:rPr>
              <a:t>投资学 / 量化投资 / 金融风险管理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52628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8B97A8"/>
                </a:solidFill>
                <a:latin typeface="Microsoft YaHei"/>
                <a:ea typeface="Microsoft YaHei"/>
              </a:rPr>
              <a:t>实验形态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84632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1A2230"/>
                </a:solidFill>
                <a:latin typeface="Microsoft YaHei"/>
                <a:ea typeface="Microsoft YaHei"/>
              </a:rPr>
              <a:t>在线 Notebook 虚拟仿真实验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Microsoft YaHei"/>
                <a:ea typeface="Microsoft YaHei"/>
              </a:rPr>
              <a:t>配套材料：教学指导文档 · 全部实验代码与数据（随机种子固定，一键复现）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A2230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8B97A8"/>
                </a:solidFill>
                <a:latin typeface="Microsoft YaHei"/>
                <a:ea typeface="Microsoft YaHe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Microsoft YaHei"/>
                <a:ea typeface="Microsoft YaHei"/>
              </a:rPr>
              <a:t>一份把「AI 投研信号」与「仓位决策训练」融合起来的实验教学案例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52120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907792"/>
            <a:ext cx="1188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3D7BD9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92608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1A2230"/>
                </a:solidFill>
                <a:latin typeface="Microsoft YaHei"/>
                <a:ea typeface="Microsoft YaHei"/>
              </a:rPr>
              <a:t>背景与意义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42900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4A5568"/>
                </a:solidFill>
                <a:latin typeface="Microsoft YaHei"/>
                <a:ea typeface="Microsoft YaHei"/>
              </a:rPr>
              <a:t>三个真问题 · 为什么必须虚拟仿真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651760"/>
            <a:ext cx="52120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907792"/>
            <a:ext cx="1188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3D7BD9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92608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1A2230"/>
                </a:solidFill>
                <a:latin typeface="Microsoft YaHei"/>
                <a:ea typeface="Microsoft YaHei"/>
              </a:rPr>
              <a:t>实验设计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42900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4A5568"/>
                </a:solidFill>
                <a:latin typeface="Microsoft YaHei"/>
                <a:ea typeface="Microsoft YaHei"/>
              </a:rPr>
              <a:t>真实行情沙盘 · 透明信号 · 三组仓位规则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389120"/>
            <a:ext cx="52120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45152"/>
            <a:ext cx="1188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3D7BD9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66344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1A2230"/>
                </a:solidFill>
                <a:latin typeface="Microsoft YaHei"/>
                <a:ea typeface="Microsoft YaHei"/>
              </a:rPr>
              <a:t>结果与发现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16636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4A5568"/>
                </a:solidFill>
                <a:latin typeface="Microsoft YaHei"/>
                <a:ea typeface="Microsoft YaHei"/>
              </a:rPr>
              <a:t>成本之税 · 校准失灵 · 保险定价 · 干预线设计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389120"/>
            <a:ext cx="52120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645152"/>
            <a:ext cx="1188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3D7BD9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66344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1A2230"/>
                </a:solidFill>
                <a:latin typeface="Microsoft YaHei"/>
                <a:ea typeface="Microsoft YaHei"/>
              </a:rPr>
              <a:t>教学组织与评价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16636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4A5568"/>
                </a:solidFill>
                <a:latin typeface="Microsoft YaHei"/>
                <a:ea typeface="Microsoft YaHei"/>
              </a:rPr>
              <a:t>分层任务 · 典型错误引导 · 四维量规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B3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0" b="1">
                <a:solidFill>
                  <a:srgbClr val="3D7BD9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B9CDEF"/>
                </a:solidFill>
                <a:latin typeface="Microsoft YaHei"/>
                <a:ea typeface="Microsoft YaHei"/>
              </a:rPr>
              <a:t>BACKGROUND &amp; SIGNIFICANCE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033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背景与意义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6235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D6E2F6"/>
                </a:solidFill>
                <a:latin typeface="Microsoft YaHei"/>
                <a:ea typeface="Microsoft YaHei"/>
              </a:rPr>
              <a:t>· 三个真问题：AI 说了买，该买多少？亏了谁来管？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00760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D6E2F6"/>
                </a:solidFill>
                <a:latin typeface="Microsoft YaHei"/>
                <a:ea typeface="Microsoft YaHei"/>
              </a:rPr>
              <a:t>· 预测力 ≠ 盈利能力：分水岭在仓位规则与交易成本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39165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D6E2F6"/>
                </a:solidFill>
                <a:latin typeface="Microsoft YaHei"/>
                <a:ea typeface="Microsoft YaHei"/>
              </a:rPr>
              <a:t>· 真实公开行情 + 透明模拟信号 = 可控而复杂的实验沙盘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1E4FA8"/>
                </a:solidFill>
                <a:latin typeface="Microsoft YaHei"/>
                <a:ea typeface="Microsoft YaHei"/>
              </a:rPr>
              <a:t>01 背景与意义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1A2230"/>
                </a:solidFill>
                <a:latin typeface="Microsoft YaHei"/>
                <a:ea typeface="Microsoft YaHei"/>
              </a:rPr>
              <a:t>三个真问题：AI 投研链条上被忽视的「最后一厘米」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Microsoft YaHei"/>
                <a:ea typeface="Microsoft YaHei"/>
              </a:rPr>
              <a:t>大模型投研工作台批量进入券商与基金，但信号到资金之间的转化环节没有训练环境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783080"/>
            <a:ext cx="777240" cy="41148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361188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331720"/>
            <a:ext cx="475488" cy="310896"/>
          </a:xfrm>
          <a:prstGeom prst="roundRect">
            <a:avLst>
              <a:gd name="adj" fmla="val 8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45436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340864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8B97A8"/>
                </a:solidFill>
                <a:latin typeface="Microsoft YaHei"/>
                <a:ea typeface="Microsoft YaHei"/>
              </a:rPr>
              <a:t>来自行业的真实提问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88920"/>
            <a:ext cx="3246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>
                <a:solidFill>
                  <a:srgbClr val="1A2230"/>
                </a:solidFill>
                <a:latin typeface="Microsoft YaHei"/>
                <a:ea typeface="Microsoft YaHei"/>
              </a:rPr>
              <a:t>AI 说「买」，仓位该给多少？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11880"/>
            <a:ext cx="32461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4A5568"/>
                </a:solidFill>
                <a:latin typeface="Microsoft YaHei"/>
                <a:ea typeface="Microsoft YaHei"/>
              </a:rPr>
              <a:t>每日数百条看多/看空观点与置信度，信号到仓位的转化全靠交易员手感，缺乏可训练、可考核的实验环境。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148840"/>
            <a:ext cx="361188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07992" y="2331720"/>
            <a:ext cx="475488" cy="310896"/>
          </a:xfrm>
          <a:prstGeom prst="roundRect">
            <a:avLst>
              <a:gd name="adj" fmla="val 8000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2345436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2" y="2340864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8B97A8"/>
                </a:solidFill>
                <a:latin typeface="Microsoft YaHei"/>
                <a:ea typeface="Microsoft YaHei"/>
              </a:rPr>
              <a:t>来自行业的真实提问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788920"/>
            <a:ext cx="3246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>
                <a:solidFill>
                  <a:srgbClr val="1A2230"/>
                </a:solidFill>
                <a:latin typeface="Microsoft YaHei"/>
                <a:ea typeface="Microsoft YaHei"/>
              </a:rPr>
              <a:t>高置信度信号，值得重仓吗？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3611880"/>
            <a:ext cx="32461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4A5568"/>
                </a:solidFill>
                <a:latin typeface="Microsoft YaHei"/>
                <a:ea typeface="Microsoft YaHei"/>
              </a:rPr>
              <a:t>未经校准的置信度直接映射为仓位，会把模型的过度自信放大为账户的过度敞口——谁来验证置信度的成色？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47304" y="2148840"/>
            <a:ext cx="361188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30184" y="2331720"/>
            <a:ext cx="475488" cy="310896"/>
          </a:xfrm>
          <a:prstGeom prst="roundRect">
            <a:avLst>
              <a:gd name="adj" fmla="val 8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4" y="2345436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4544" y="2340864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8B97A8"/>
                </a:solidFill>
                <a:latin typeface="Microsoft YaHei"/>
                <a:ea typeface="Microsoft YaHei"/>
              </a:rPr>
              <a:t>来自行业的真实提问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2788920"/>
            <a:ext cx="3246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>
                <a:solidFill>
                  <a:srgbClr val="1A2230"/>
                </a:solidFill>
                <a:latin typeface="Microsoft YaHei"/>
                <a:ea typeface="Microsoft YaHei"/>
              </a:rPr>
              <a:t>回撤触线时，谁来扣扳机？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3611880"/>
            <a:ext cx="32461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4A5568"/>
                </a:solidFill>
                <a:latin typeface="Microsoft YaHei"/>
                <a:ea typeface="Microsoft YaHei"/>
              </a:rPr>
              <a:t>最大回撤预算往往只是写在风控手册里的红线，没有机制保证它在盘中被真正执行。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6144768"/>
            <a:ext cx="11183112" cy="50292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6236208"/>
            <a:ext cx="585216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E3F8C"/>
                </a:solidFill>
                <a:latin typeface="Microsoft YaHei"/>
                <a:ea typeface="Microsoft YaHei"/>
              </a:rPr>
              <a:t>信号「准不准」已被讨论很多，信号「配多少」才是直接决定损益的环节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236208"/>
            <a:ext cx="91440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3D7BD9"/>
                </a:solidFill>
                <a:latin typeface="Microsoft YaHei"/>
                <a:ea typeface="Microsoft YaHei"/>
              </a:rPr>
              <a:t>&gt;&gt;&gt;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6236208"/>
            <a:ext cx="429768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16A34A"/>
                </a:solidFill>
                <a:latin typeface="Microsoft YaHei"/>
                <a:ea typeface="Microsoft YaHei"/>
              </a:rPr>
              <a:t>教仓位决策，就是教风险预算官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1E4FA8"/>
                </a:solidFill>
                <a:latin typeface="Microsoft YaHei"/>
                <a:ea typeface="Microsoft YaHei"/>
              </a:rPr>
              <a:t>01 背景与意义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1A2230"/>
                </a:solidFill>
                <a:latin typeface="Microsoft YaHei"/>
                <a:ea typeface="Microsoft YaHei"/>
              </a:rPr>
              <a:t>为什么必须虚拟仿真：真实行情沙盘 × 透明信号注入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Microsoft YaHei"/>
                <a:ea typeface="Microsoft YaHei"/>
              </a:rPr>
              <a:t>培训规范要求「取材现实、数据有出处」——行情真实可核验，信号透明可复现，二者结合才构成完整沙盘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783080"/>
            <a:ext cx="777240" cy="41148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544068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212848"/>
            <a:ext cx="5111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0E3F8C"/>
                </a:solidFill>
                <a:latin typeface="Microsoft YaHei"/>
                <a:ea typeface="Microsoft YaHei"/>
              </a:rPr>
              <a:t>真实行情（出处明确）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578608"/>
            <a:ext cx="5111496" cy="2999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>
                <a:solidFill>
                  <a:srgbClr val="4A5568"/>
                </a:solidFill>
                <a:latin typeface="Microsoft YaHei"/>
                <a:ea typeface="Microsoft YaHei"/>
              </a:rPr>
              <a:t>28 只沪深大盘蓝筹 · 410 个交易日（2024-01-02 至 2025-10-28）前复权收盘价
来源：腾讯财经公开行情接口
任何学生可随时重新下载核验
覆盖金融/消费/能源/制造/科技，含完整牛熊波动结构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44068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2212848"/>
            <a:ext cx="5111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6A34A"/>
                </a:solidFill>
                <a:latin typeface="Microsoft YaHei"/>
                <a:ea typeface="Microsoft YaHei"/>
              </a:rPr>
              <a:t>透明信号（种子固定）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578608"/>
            <a:ext cx="5111496" cy="2999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>
                <a:solidFill>
                  <a:srgbClr val="4A5568"/>
                </a:solidFill>
                <a:latin typeface="Microsoft YaHei"/>
                <a:ea typeface="Microsoft YaHei"/>
              </a:rPr>
              <a:t>在同一行情上蒙特卡洛注入 6910 条买/卖信号
方向命中率 55% 假设（实测 53.95%），种子 20261029
置信度与真实超额幅度正相关 + 噪声
生成规则完全公开，复跑结果逐字节一致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029200"/>
            <a:ext cx="11155680" cy="8229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148072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E3F8C"/>
                </a:solidFill>
                <a:latin typeface="Microsoft YaHei"/>
                <a:ea typeface="Microsoft YaHei"/>
              </a:rPr>
              <a:t>教学定位：</a:t>
            </a:r>
            <a:r>
              <a:rPr sz="1200" b="0">
                <a:solidFill>
                  <a:srgbClr val="4A5568"/>
                </a:solidFill>
                <a:latin typeface="Microsoft YaHei"/>
                <a:ea typeface="Microsoft YaHei"/>
              </a:rPr>
              <a:t>训练「仓位决策」能力而非复刻某段行情——真实行情保证环境复杂性，透明信号保证实验可控性；全部结论限于该仿真环境，绝不上实盘。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6144768"/>
            <a:ext cx="11183112" cy="50292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236208"/>
            <a:ext cx="585216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E3F8C"/>
                </a:solidFill>
                <a:latin typeface="Microsoft YaHei"/>
                <a:ea typeface="Microsoft YaHei"/>
              </a:rPr>
              <a:t>数据有出处是规范性得分点，信号有种子是可复现得分点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236208"/>
            <a:ext cx="91440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3D7BD9"/>
                </a:solidFill>
                <a:latin typeface="Microsoft YaHei"/>
                <a:ea typeface="Microsoft YaHei"/>
              </a:rPr>
              <a:t>&gt;&gt;&gt;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6236208"/>
            <a:ext cx="429768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16A34A"/>
                </a:solidFill>
                <a:latin typeface="Microsoft YaHei"/>
                <a:ea typeface="Microsoft YaHei"/>
              </a:rPr>
              <a:t>真实为体 · 透明为用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B3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0" b="1">
                <a:solidFill>
                  <a:srgbClr val="3D7BD9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B9CDEF"/>
                </a:solidFill>
                <a:latin typeface="Microsoft YaHei"/>
                <a:ea typeface="Microsoft YaHei"/>
              </a:rPr>
              <a:t>EXPERIMENTAL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033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实验设计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6235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D6E2F6"/>
                </a:solidFill>
                <a:latin typeface="Microsoft YaHei"/>
                <a:ea typeface="Microsoft YaHei"/>
              </a:rPr>
              <a:t>· 冻结同一组 AI 信号，只变动「信号→仓位」的转化规则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00760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D6E2F6"/>
                </a:solidFill>
                <a:latin typeface="Microsoft YaHei"/>
                <a:ea typeface="Microsoft YaHei"/>
              </a:rPr>
              <a:t>· 三组规则对照：满仓等权 / 置信度分档 / 1/4 凯利+回撤干预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39165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D6E2F6"/>
                </a:solidFill>
                <a:latin typeface="Microsoft YaHei"/>
                <a:ea typeface="Microsoft YaHei"/>
              </a:rPr>
              <a:t>· 统一硬约束：5bp 单边成本 · 6% 回撤预算 · 20% 个股上限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1E4FA8"/>
                </a:solidFill>
                <a:latin typeface="Microsoft YaHei"/>
                <a:ea typeface="Microsoft YaHei"/>
              </a:rPr>
              <a:t>02 实验设计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1A2230"/>
                </a:solidFill>
                <a:latin typeface="Microsoft YaHei"/>
                <a:ea typeface="Microsoft YaHei"/>
              </a:rPr>
              <a:t>实验环境：平台在线 Notebook，打开即跑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Microsoft YaHei"/>
                <a:ea typeface="Microsoft YaHei"/>
              </a:rPr>
              <a:t>案例正文、数据集、代码、运行结果一体化，学生零安装配置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783080"/>
            <a:ext cx="777240" cy="41148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截图_正文_顶部摘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65960"/>
            <a:ext cx="3310651" cy="4023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1965960"/>
            <a:ext cx="3310651" cy="4023360"/>
          </a:xfrm>
          <a:prstGeom prst="rect">
            <a:avLst/>
          </a:prstGeom>
          <a:noFill/>
          <a:ln w="15240">
            <a:solidFill>
              <a:srgbClr val="D6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2057400"/>
            <a:ext cx="475488" cy="310896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71116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03911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1A2230"/>
                </a:solidFill>
                <a:latin typeface="Microsoft YaHei"/>
                <a:ea typeface="Microsoft YaHei"/>
              </a:rPr>
              <a:t>一体化载体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386584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4A5568"/>
                </a:solidFill>
                <a:latin typeface="Microsoft YaHei"/>
                <a:ea typeface="Microsoft YaHei"/>
              </a:rPr>
              <a:t>实验说明、数据文件、代码单元、运行结果与报告要求全部集成在一个 Notebook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429000"/>
            <a:ext cx="475488" cy="310896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442716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41071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1A2230"/>
                </a:solidFill>
                <a:latin typeface="Microsoft YaHei"/>
                <a:ea typeface="Microsoft YaHei"/>
              </a:rPr>
              <a:t>云端运行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58184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4A5568"/>
                </a:solidFill>
                <a:latin typeface="Microsoft YaHei"/>
                <a:ea typeface="Microsoft YaHei"/>
              </a:rPr>
              <a:t>学生登录即获独立实验环境，预置数据分析工具与依赖，减少本地安装干扰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800600"/>
            <a:ext cx="475488" cy="310896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814316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78231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1A2230"/>
                </a:solidFill>
                <a:latin typeface="Microsoft YaHei"/>
                <a:ea typeface="Microsoft YaHei"/>
              </a:rPr>
              <a:t>一键复现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5129784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4A5568"/>
                </a:solidFill>
                <a:latin typeface="Microsoft YaHei"/>
                <a:ea typeface="Microsoft YaHei"/>
              </a:rPr>
              <a:t>全部表格与图形由代码单元真实运行生成，无任何手工录入数字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6144768"/>
            <a:ext cx="11183112" cy="50292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6236208"/>
            <a:ext cx="585216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E3F8C"/>
                </a:solidFill>
                <a:latin typeface="Microsoft YaHei"/>
                <a:ea typeface="Microsoft YaHei"/>
              </a:rPr>
              <a:t>评审最关注「方案可比较、过程可追溯」——每个数字都能一键重跑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236208"/>
            <a:ext cx="91440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3D7BD9"/>
                </a:solidFill>
                <a:latin typeface="Microsoft YaHei"/>
                <a:ea typeface="Microsoft YaHei"/>
              </a:rPr>
              <a:t>&gt;&gt;&gt;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6236208"/>
            <a:ext cx="429768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16A34A"/>
                </a:solidFill>
                <a:latin typeface="Microsoft YaHei"/>
                <a:ea typeface="Microsoft YaHei"/>
              </a:rPr>
              <a:t>环境即教具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1E4FA8"/>
                </a:solidFill>
                <a:latin typeface="Microsoft YaHei"/>
                <a:ea typeface="Microsoft YaHei"/>
              </a:rPr>
              <a:t>02 实验设计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1A2230"/>
                </a:solidFill>
                <a:latin typeface="Microsoft YaHei"/>
                <a:ea typeface="Microsoft YaHei"/>
              </a:rPr>
              <a:t>受控对照实验：信号冻结，只变仓位规则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Microsoft YaHei"/>
                <a:ea typeface="Microsoft YaHei"/>
              </a:rPr>
              <a:t>信号相同，则任何绩效差异都只能归因于仓位规则——干净识别因果关系的关键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783080"/>
            <a:ext cx="777240" cy="41148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3611880" cy="109728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8B97A8"/>
                </a:solidFill>
                <a:latin typeface="Microsoft YaHei"/>
                <a:ea typeface="Microsoft YaHei"/>
              </a:rPr>
              <a:t>A 对照组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3347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>
                <a:solidFill>
                  <a:srgbClr val="1A2230"/>
                </a:solidFill>
                <a:latin typeface="Microsoft YaHei"/>
                <a:ea typeface="Microsoft YaHei"/>
              </a:rPr>
              <a:t>满仓等权（无风险预算）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54680"/>
            <a:ext cx="3246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4A5568"/>
                </a:solidFill>
                <a:latin typeface="Microsoft YaHei"/>
                <a:ea typeface="Microsoft YaHei"/>
              </a:rPr>
              <a:t>有信号即 100% 等权持有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2452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D9534F"/>
                </a:solidFill>
                <a:latin typeface="Microsoft YaHei"/>
                <a:ea typeface="Microsoft YaHei"/>
              </a:rPr>
              <a:t>角色：「All in」的直觉做法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103120"/>
            <a:ext cx="3611880" cy="1097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23317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8B97A8"/>
                </a:solidFill>
                <a:latin typeface="Microsoft YaHei"/>
                <a:ea typeface="Microsoft YaHei"/>
              </a:rPr>
              <a:t>B 实验组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63347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>
                <a:solidFill>
                  <a:srgbClr val="1A2230"/>
                </a:solidFill>
                <a:latin typeface="Microsoft YaHei"/>
                <a:ea typeface="Microsoft YaHei"/>
              </a:rPr>
              <a:t>置信度分档固定分数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3154680"/>
            <a:ext cx="3246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4A5568"/>
                </a:solidFill>
                <a:latin typeface="Microsoft YaHei"/>
                <a:ea typeface="Microsoft YaHei"/>
              </a:rPr>
              <a:t>≥0.7 配 3 成；0.55–0.7 配 2 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422452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</a:rPr>
              <a:t>角色：把置信度直接映射为仓位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47304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47304" y="2103120"/>
            <a:ext cx="3611880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4" y="23317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8B97A8"/>
                </a:solidFill>
                <a:latin typeface="Microsoft YaHei"/>
                <a:ea typeface="Microsoft YaHei"/>
              </a:rPr>
              <a:t>C 实验组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4" y="263347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>
                <a:solidFill>
                  <a:srgbClr val="1A2230"/>
                </a:solidFill>
                <a:latin typeface="Microsoft YaHei"/>
                <a:ea typeface="Microsoft YaHei"/>
              </a:rPr>
              <a:t>1/4 凯利 + 回撤干预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3154680"/>
            <a:ext cx="3246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4A5568"/>
                </a:solidFill>
                <a:latin typeface="Microsoft YaHei"/>
                <a:ea typeface="Microsoft YaHei"/>
              </a:rPr>
              <a:t>样本内估凯利分数×1/4；触 -6% 线仓位减半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422452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6A34A"/>
                </a:solidFill>
                <a:latin typeface="Microsoft YaHei"/>
                <a:ea typeface="Microsoft YaHei"/>
              </a:rPr>
              <a:t>角色：定量风险预算 + 主动干预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07492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E3F8C"/>
                </a:solidFill>
                <a:latin typeface="Microsoft YaHei"/>
                <a:ea typeface="Microsoft YaHei"/>
              </a:rPr>
              <a:t>三组共用硬约束：</a:t>
            </a:r>
            <a:r>
              <a:rPr sz="1200" b="0">
                <a:solidFill>
                  <a:srgbClr val="4A5568"/>
                </a:solidFill>
                <a:latin typeface="Microsoft YaHei"/>
                <a:ea typeface="Microsoft YaHei"/>
              </a:rPr>
              <a:t>单一标的上限 20% · 总仓位上限 100% · 单边交易成本 5bp · 最大回撤预算 -6%（违反即方案无效）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6144768"/>
            <a:ext cx="11183112" cy="50292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236208"/>
            <a:ext cx="585216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E3F8C"/>
                </a:solidFill>
                <a:latin typeface="Microsoft YaHei"/>
                <a:ea typeface="Microsoft YaHei"/>
              </a:rPr>
              <a:t>任何参数不得使用样本外信息：前 70% 估计，后 30% 检验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6236208"/>
            <a:ext cx="91440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3D7BD9"/>
                </a:solidFill>
                <a:latin typeface="Microsoft YaHei"/>
                <a:ea typeface="Microsoft YaHei"/>
              </a:rPr>
              <a:t>&gt;&gt;&gt;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6236208"/>
            <a:ext cx="429768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16A34A"/>
                </a:solidFill>
                <a:latin typeface="Microsoft YaHei"/>
                <a:ea typeface="Microsoft YaHei"/>
              </a:rPr>
              <a:t>机制的可解释性优先于结果的漂亮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1E4FA8"/>
                </a:solidFill>
                <a:latin typeface="Microsoft YaHei"/>
                <a:ea typeface="Microsoft YaHei"/>
              </a:rPr>
              <a:t>02 实验设计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1A2230"/>
                </a:solidFill>
                <a:latin typeface="Microsoft YaHei"/>
                <a:ea typeface="Microsoft YaHei"/>
              </a:rPr>
              <a:t>信号诊断：置信度存在系统性过度自信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Microsoft YaHei"/>
                <a:ea typeface="Microsoft YaHei"/>
              </a:rPr>
              <a:t>置信度均值 0.871，但各桶真实命中率 50.9%–58.3% 且毫无单调性——这是实验组设计的直接依据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783080"/>
            <a:ext cx="777240" cy="41148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194560"/>
          <a:ext cx="6675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19456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置信度桶</a:t>
                      </a:r>
                    </a:p>
                  </a:txBody>
                  <a:tcPr marT="12700" marB="12700" anchor="ctr"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信号数</a:t>
                      </a:r>
                    </a:p>
                  </a:txBody>
                  <a:tcPr marT="12700" marB="12700" anchor="ctr"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方向命中率</a:t>
                      </a:r>
                    </a:p>
                  </a:txBody>
                  <a:tcPr marT="12700" marB="12700" anchor="ctr">
                    <a:solidFill>
                      <a:srgbClr val="0E3F8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[0.5, 0.6)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446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58.3%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[0.6, 0.7)</a:t>
                      </a:r>
                    </a:p>
                  </a:txBody>
                  <a:tcPr marT="12700" marB="12700" anchor="ctr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709</a:t>
                      </a:r>
                    </a:p>
                  </a:txBody>
                  <a:tcPr marT="12700" marB="12700" anchor="ctr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50.9%</a:t>
                      </a:r>
                    </a:p>
                  </a:txBody>
                  <a:tcPr marT="12700" marB="12700" anchor="ctr">
                    <a:solidFill>
                      <a:srgbClr val="F4F8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[0.7, 0.8)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746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54.3%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[0.8, 0.9)</a:t>
                      </a:r>
                    </a:p>
                  </a:txBody>
                  <a:tcPr marT="12700" marB="12700" anchor="ctr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712</a:t>
                      </a:r>
                    </a:p>
                  </a:txBody>
                  <a:tcPr marT="12700" marB="12700" anchor="ctr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54.1%</a:t>
                      </a:r>
                    </a:p>
                  </a:txBody>
                  <a:tcPr marT="12700" marB="12700" anchor="ctr">
                    <a:solidFill>
                      <a:srgbClr val="F4F8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[0.9, 1.0)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4214（占61%）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54.0%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98079" y="2194560"/>
            <a:ext cx="41605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62671" y="2304288"/>
            <a:ext cx="3831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D9534F"/>
                </a:solidFill>
                <a:latin typeface="Microsoft YaHei"/>
                <a:ea typeface="Microsoft YaHei"/>
              </a:rPr>
              <a:t>两个层次的同时失真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62671" y="2670048"/>
            <a:ext cx="3831336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Microsoft YaHei"/>
                <a:ea typeface="Microsoft YaHei"/>
              </a:rPr>
              <a:t>① 绝对失真：均值 0.871 vs 真实命中 54%——整体过度自信
② 排序失灵：命中率最高的反而是 [0.5,0.6) 桶——置信度分档没有区分度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4617720"/>
            <a:ext cx="4160520" cy="118872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4754880"/>
            <a:ext cx="3794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0E3F8C"/>
                </a:solidFill>
                <a:latin typeface="Microsoft YaHei"/>
                <a:ea typeface="Microsoft YaHei"/>
              </a:rPr>
              <a:t>结论：</a:t>
            </a:r>
            <a:r>
              <a:rPr sz="1150" b="0">
                <a:solidFill>
                  <a:srgbClr val="4A5568"/>
                </a:solidFill>
                <a:latin typeface="Microsoft YaHei"/>
                <a:ea typeface="Microsoft YaHei"/>
              </a:rPr>
              <a:t>置信度只能作参考输入，须经凯利打折与硬约束双重衰减——实验组 B 将验证这一点。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6144768"/>
            <a:ext cx="11183112" cy="50292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6236208"/>
            <a:ext cx="585216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E3F8C"/>
                </a:solidFill>
                <a:latin typeface="Microsoft YaHei"/>
                <a:ea typeface="Microsoft YaHei"/>
              </a:rPr>
              <a:t>AI 的置信度不是仓位权重：未经验证的自信会放大为敞口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236208"/>
            <a:ext cx="91440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3D7BD9"/>
                </a:solidFill>
                <a:latin typeface="Microsoft YaHei"/>
                <a:ea typeface="Microsoft YaHei"/>
              </a:rPr>
              <a:t>&gt;&gt;&gt;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6236208"/>
            <a:ext cx="429768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16A34A"/>
                </a:solidFill>
                <a:latin typeface="Microsoft YaHei"/>
                <a:ea typeface="Microsoft YaHei"/>
              </a:rPr>
              <a:t>先校准，再分配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B3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0" b="1">
                <a:solidFill>
                  <a:srgbClr val="3D7BD9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B9CDEF"/>
                </a:solidFill>
                <a:latin typeface="Microsoft YaHei"/>
                <a:ea typeface="Microsoft YaHei"/>
              </a:rPr>
              <a:t>FINDINGS &amp;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033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结果与发现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6235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D6E2F6"/>
                </a:solidFill>
                <a:latin typeface="Microsoft YaHei"/>
                <a:ea typeface="Microsoft YaHei"/>
              </a:rPr>
              <a:t>· 满仓组的成本之税：年化拖累 8.8%，风险预算组仅 4.3%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00760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D6E2F6"/>
                </a:solidFill>
                <a:latin typeface="Microsoft YaHei"/>
                <a:ea typeface="Microsoft YaHei"/>
              </a:rPr>
              <a:t>· 样本外反转揭示保险的定价：看得见的机会成本，看不见的防御价值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39165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D6E2F6"/>
                </a:solidFill>
                <a:latin typeface="Microsoft YaHei"/>
                <a:ea typeface="Microsoft YaHei"/>
              </a:rPr>
              <a:t>· 反事实检验：同时报告「移除干预」的不利情形，拒绝选择性报告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1E4FA8"/>
                </a:solidFill>
                <a:latin typeface="Microsoft YaHei"/>
                <a:ea typeface="Microsoft YaHei"/>
              </a:rPr>
              <a:t>03 结果与发现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1A2230"/>
                </a:solidFill>
                <a:latin typeface="Microsoft YaHei"/>
                <a:ea typeface="Microsoft YaHei"/>
              </a:rPr>
              <a:t>全样本对照：同样的信号，完全不同的持有体验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Microsoft YaHei"/>
                <a:ea typeface="Microsoft YaHei"/>
              </a:rPr>
              <a:t>410 个交易日 · 三组共用同一信号与硬约束 · 绩效差异全部归因于仓位规则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783080"/>
            <a:ext cx="777240" cy="41148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pt_fig1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7400"/>
            <a:ext cx="7406640" cy="35143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83879" y="214884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E3F8C"/>
                </a:solidFill>
                <a:latin typeface="Microsoft YaHei"/>
                <a:ea typeface="Microsoft YaHei"/>
              </a:rPr>
              <a:t>23.2% → 18.6%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532888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满仓组 vs 风险预算组 累计收益：约 4.6 个百分点的「保费」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3447288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6A34A"/>
                </a:solidFill>
                <a:latin typeface="Microsoft YaHei"/>
                <a:ea typeface="Microsoft YaHei"/>
              </a:rPr>
              <a:t>-12.4% → -9.3%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3831336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最大回撤被压缩 3.1 个百分点，卡玛 1.11 → 1.19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4745736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6A34A"/>
                </a:solidFill>
                <a:latin typeface="Microsoft YaHei"/>
                <a:ea typeface="Microsoft YaHei"/>
              </a:rPr>
              <a:t>0.70 → 0.34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5129784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日均单边换手腰斩——省下的成本就是超额收益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6144768"/>
            <a:ext cx="11183112" cy="50292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236208"/>
            <a:ext cx="585216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E3F8C"/>
                </a:solidFill>
                <a:latin typeface="Microsoft YaHei"/>
                <a:ea typeface="Microsoft YaHei"/>
              </a:rPr>
              <a:t>集中不等于低风险：凯利组波动未降，风险预算的价值要用回撤与成本衡量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236208"/>
            <a:ext cx="91440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3D7BD9"/>
                </a:solidFill>
                <a:latin typeface="Microsoft YaHei"/>
                <a:ea typeface="Microsoft YaHei"/>
              </a:rPr>
              <a:t>&gt;&gt;&gt;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6236208"/>
            <a:ext cx="429768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16A34A"/>
                </a:solidFill>
                <a:latin typeface="Microsoft YaHei"/>
                <a:ea typeface="Microsoft YaHei"/>
              </a:rPr>
              <a:t>怎么买，比买什么更影响体验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1E4FA8"/>
                </a:solidFill>
                <a:latin typeface="Microsoft YaHei"/>
                <a:ea typeface="Microsoft YaHei"/>
              </a:rPr>
              <a:t>03 结果与发现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1A2230"/>
                </a:solidFill>
                <a:latin typeface="Microsoft YaHei"/>
                <a:ea typeface="Microsoft YaHei"/>
              </a:rPr>
              <a:t>交易成本是仓位规则的隐形税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Microsoft YaHei"/>
                <a:ea typeface="Microsoft YaHei"/>
              </a:rPr>
              <a:t>5bp 看似微小，但满仓组日均换手 0.70——年化成本拖累 8.8 个百分点，足以吞掉微弱的预测力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783080"/>
            <a:ext cx="777240" cy="41148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pt_fig2_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7406640" cy="256665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83879" y="2148840"/>
            <a:ext cx="35661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1" y="2258568"/>
            <a:ext cx="32369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E3F8C"/>
                </a:solidFill>
                <a:latin typeface="Microsoft YaHei"/>
                <a:ea typeface="Microsoft YaHei"/>
              </a:rPr>
              <a:t>教学要点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1" y="2624328"/>
            <a:ext cx="3236976" cy="2999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0">
                <a:solidFill>
                  <a:srgbClr val="4A5568"/>
                </a:solidFill>
                <a:latin typeface="Microsoft YaHei"/>
                <a:ea typeface="Microsoft YaHei"/>
              </a:rPr>
              <a:t>· 满仓组年化成本拖累 8.8%，风险预算组仅 4.3%
· 样本外上行段换手升至 0.91，拖累 11.4%——高频调仓的成本随行情放大
· 任何「预测很强」的信号，必须先过成本这一关才能变成收益
· 不做成本扣除的回测没有讨论价值（典型错误引导之一）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144768"/>
            <a:ext cx="11183112" cy="50292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236208"/>
            <a:ext cx="585216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E3F8C"/>
                </a:solidFill>
                <a:latin typeface="Microsoft YaHei"/>
                <a:ea typeface="Microsoft YaHei"/>
              </a:rPr>
              <a:t>方向命中率 54% 的信号，在成本面前没有犯错的余地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236208"/>
            <a:ext cx="91440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3D7BD9"/>
                </a:solidFill>
                <a:latin typeface="Microsoft YaHei"/>
                <a:ea typeface="Microsoft YaHei"/>
              </a:rPr>
              <a:t>&gt;&gt;&gt;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6236208"/>
            <a:ext cx="429768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16A34A"/>
                </a:solidFill>
                <a:latin typeface="Microsoft YaHei"/>
                <a:ea typeface="Microsoft YaHei"/>
              </a:rPr>
              <a:t>先算成本，再谈预测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1E4FA8"/>
                </a:solidFill>
                <a:latin typeface="Microsoft YaHei"/>
                <a:ea typeface="Microsoft YaHei"/>
              </a:rPr>
              <a:t>03 结果与发现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1A2230"/>
                </a:solidFill>
                <a:latin typeface="Microsoft YaHei"/>
                <a:ea typeface="Microsoft YaHei"/>
              </a:rPr>
              <a:t>样本外检验：风险预算是「有价格的保险」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Microsoft YaHei"/>
                <a:ea typeface="Microsoft YaHei"/>
              </a:rPr>
              <a:t>后 30% 样本恰为蓝筹上行段——满仓组年化 41.3% vs 风险预算组 13.5%，但回撤 -4.1% vs -2.5%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783080"/>
            <a:ext cx="777240" cy="41148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544068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48840"/>
            <a:ext cx="5440680" cy="109728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A2230"/>
                </a:solidFill>
                <a:latin typeface="Microsoft YaHei"/>
                <a:ea typeface="Microsoft YaHei"/>
              </a:rPr>
              <a:t>满仓等权（无预算）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D9534F"/>
                </a:solidFill>
                <a:latin typeface="Microsoft YaHei"/>
                <a:ea typeface="Microsoft YaHei"/>
              </a:rPr>
              <a:t>年化 41.3%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4A5568"/>
                </a:solidFill>
                <a:latin typeface="Microsoft YaHei"/>
                <a:ea typeface="Microsoft YaHei"/>
              </a:rPr>
              <a:t>夏普 2.71    最大回撤 -4.1%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日均换手 0.91 · 成本拖累 11.4%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148840"/>
            <a:ext cx="544068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148840"/>
            <a:ext cx="5440680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37744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A2230"/>
                </a:solidFill>
                <a:latin typeface="Microsoft YaHei"/>
                <a:ea typeface="Microsoft YaHei"/>
              </a:rPr>
              <a:t>1/4 凯利 + 回撤干预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7889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16A34A"/>
                </a:solidFill>
                <a:latin typeface="Microsoft YaHei"/>
                <a:ea typeface="Microsoft YaHei"/>
              </a:rPr>
              <a:t>年化 13.5%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5204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4A5568"/>
                </a:solidFill>
                <a:latin typeface="Microsoft YaHei"/>
                <a:ea typeface="Microsoft YaHei"/>
              </a:rPr>
              <a:t>夏普 1.56    最大回撤 -2.5%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02336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日均换手 0.38 · 成本拖累 4.8%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21208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30952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>
                <a:solidFill>
                  <a:srgbClr val="0E3F8C"/>
                </a:solidFill>
                <a:latin typeface="Microsoft YaHei"/>
                <a:ea typeface="Microsoft YaHei"/>
              </a:rPr>
              <a:t>这不是实验失败：</a:t>
            </a:r>
            <a:r>
              <a:rPr sz="1200" b="0">
                <a:solidFill>
                  <a:srgbClr val="4A5568"/>
                </a:solidFill>
                <a:latin typeface="Microsoft YaHei"/>
                <a:ea typeface="Microsoft YaHei"/>
              </a:rPr>
              <a:t>保险的机会成本在平安时期「看得见」，防御价值在回撤时期才兑现——只看一个区间下结论，正是本案例要治的病。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6144768"/>
            <a:ext cx="11183112" cy="50292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6236208"/>
            <a:ext cx="585216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E3F8C"/>
                </a:solidFill>
                <a:latin typeface="Microsoft YaHei"/>
                <a:ea typeface="Microsoft YaHei"/>
              </a:rPr>
              <a:t>样本外子区间 C 组落后 ≠ 风险预算失败：用保险定价的逻辑辩护或批评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236208"/>
            <a:ext cx="91440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3D7BD9"/>
                </a:solidFill>
                <a:latin typeface="Microsoft YaHei"/>
                <a:ea typeface="Microsoft YaHei"/>
              </a:rPr>
              <a:t>&gt;&gt;&gt;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6236208"/>
            <a:ext cx="429768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16A34A"/>
                </a:solidFill>
                <a:latin typeface="Microsoft YaHei"/>
                <a:ea typeface="Microsoft YaHei"/>
              </a:rPr>
              <a:t>用两个区间说话，而不是一个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1E4FA8"/>
                </a:solidFill>
                <a:latin typeface="Microsoft YaHei"/>
                <a:ea typeface="Microsoft YaHei"/>
              </a:rPr>
              <a:t>03 结果与发现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1A2230"/>
                </a:solidFill>
                <a:latin typeface="Microsoft YaHei"/>
                <a:ea typeface="Microsoft YaHei"/>
              </a:rPr>
              <a:t>敏感性与反事实：干预的价值随仓位规模显现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Microsoft YaHei"/>
                <a:ea typeface="Microsoft YaHei"/>
              </a:rPr>
              <a:t>凯利缩放 1/8 → 满仓 × 干预有无（无干预=反事实）：同一策略、同一数据，差异全部归因于干预机制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783080"/>
            <a:ext cx="777240" cy="41148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pt_fig3_s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7406640" cy="330250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83879" y="2148840"/>
            <a:ext cx="35661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1" y="2258568"/>
            <a:ext cx="32369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6A34A"/>
                </a:solidFill>
                <a:latin typeface="Microsoft YaHei"/>
                <a:ea typeface="Microsoft YaHei"/>
              </a:rPr>
              <a:t>三个梯度结论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1" y="2624328"/>
            <a:ext cx="3236976" cy="2999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0">
                <a:solidFill>
                  <a:srgbClr val="4A5568"/>
                </a:solidFill>
                <a:latin typeface="Microsoft YaHei"/>
                <a:ea typeface="Microsoft YaHei"/>
              </a:rPr>
              <a:t>· 1/8 凯利：仓位本轻，干预与否完全相同
· 1/2 凯利：干预把回撤从 -15.9% 压到 -12.3%
· 满仓凯利：无干预回撤 -15.7%，干预压回 -12.6%
· 但干预不是免费的：1/4 档收益 22.7%→18.6% 而回撤未变——预算线对轻仓位太松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144768"/>
            <a:ext cx="11183112" cy="50292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236208"/>
            <a:ext cx="585216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E3F8C"/>
                </a:solidFill>
                <a:latin typeface="Microsoft YaHei"/>
                <a:ea typeface="Microsoft YaHei"/>
              </a:rPr>
              <a:t>仓位规模 × 干预线要成对设计：只调一个是新手做法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236208"/>
            <a:ext cx="91440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3D7BD9"/>
                </a:solidFill>
                <a:latin typeface="Microsoft YaHei"/>
                <a:ea typeface="Microsoft YaHei"/>
              </a:rPr>
              <a:t>&gt;&gt;&gt;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6236208"/>
            <a:ext cx="429768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16A34A"/>
                </a:solidFill>
                <a:latin typeface="Microsoft YaHei"/>
                <a:ea typeface="Microsoft YaHei"/>
              </a:rPr>
              <a:t>保费要与敞口匹配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1E4FA8"/>
                </a:solidFill>
                <a:latin typeface="Microsoft YaHei"/>
                <a:ea typeface="Microsoft YaHei"/>
              </a:rPr>
              <a:t>03 结果与发现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1A2230"/>
                </a:solidFill>
                <a:latin typeface="Microsoft YaHei"/>
                <a:ea typeface="Microsoft YaHei"/>
              </a:rPr>
              <a:t>回撤预算线设在哪里？—— 干预线敏感性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Microsoft YaHei"/>
                <a:ea typeface="Microsoft YaHei"/>
              </a:rPr>
              <a:t>固定 1/4 凯利，只移动预算线：-3% / -6% / -9%（全样本）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783080"/>
            <a:ext cx="777240" cy="41148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48840"/>
            <a:ext cx="3611880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5915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1A2230"/>
                </a:solidFill>
                <a:latin typeface="Microsoft YaHei"/>
                <a:ea typeface="Microsoft YaHei"/>
              </a:rPr>
              <a:t>-3% 预算线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16A34A"/>
                </a:solidFill>
                <a:latin typeface="Microsoft YaHei"/>
                <a:ea typeface="Microsoft YaHei"/>
              </a:rPr>
              <a:t>卡玛比率 1.49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6499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4A5568"/>
                </a:solidFill>
                <a:latin typeface="Microsoft YaHei"/>
                <a:ea typeface="Microsoft YaHei"/>
              </a:rPr>
              <a:t>回撤 -7.7%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67328"/>
            <a:ext cx="3246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干预频繁、换手更高，把回撤真正压住了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14884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148840"/>
            <a:ext cx="3611880" cy="1097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235915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1A2230"/>
                </a:solidFill>
                <a:latin typeface="Microsoft YaHei"/>
                <a:ea typeface="Microsoft YaHei"/>
              </a:rPr>
              <a:t>-6% 预算线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78892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1E4FA8"/>
                </a:solidFill>
                <a:latin typeface="Microsoft YaHei"/>
                <a:ea typeface="Microsoft YaHei"/>
              </a:rPr>
              <a:t>卡玛比率 1.19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336499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4A5568"/>
                </a:solidFill>
                <a:latin typeface="Microsoft YaHei"/>
                <a:ea typeface="Microsoft YaHei"/>
              </a:rPr>
              <a:t>回撤 -9.3%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3767328"/>
            <a:ext cx="3246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触线即减半的软干预未能把回撤压进预算——留作改进作业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47304" y="214884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47304" y="2148840"/>
            <a:ext cx="3611880" cy="109728"/>
          </a:xfrm>
          <a:prstGeom prst="rect">
            <a:avLst/>
          </a:prstGeom>
          <a:solidFill>
            <a:srgbClr val="8B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4" y="235915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1A2230"/>
                </a:solidFill>
                <a:latin typeface="Microsoft YaHei"/>
                <a:ea typeface="Microsoft YaHei"/>
              </a:rPr>
              <a:t>-9% 预算线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4" y="278892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8B97A8"/>
                </a:solidFill>
                <a:latin typeface="Microsoft YaHei"/>
                <a:ea typeface="Microsoft YaHei"/>
              </a:rPr>
              <a:t>卡玛比率 1.41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336499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4A5568"/>
                </a:solidFill>
                <a:latin typeface="Microsoft YaHei"/>
                <a:ea typeface="Microsoft YaHei"/>
              </a:rPr>
              <a:t>回撤 -9.3%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3767328"/>
            <a:ext cx="3246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4A5568"/>
                </a:solidFill>
                <a:latin typeface="Microsoft YaHei"/>
                <a:ea typeface="Microsoft YaHei"/>
              </a:rPr>
              <a:t>触发太少，干预机制名存实亡——太松等于没有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6144768"/>
            <a:ext cx="11183112" cy="50292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6236208"/>
            <a:ext cx="585216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E3F8C"/>
                </a:solidFill>
                <a:latin typeface="Microsoft YaHei"/>
                <a:ea typeface="Microsoft YaHei"/>
              </a:rPr>
              <a:t>干预线不是越紧越好：正确的问题是「线的位置与仓位规模是否匹配」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236208"/>
            <a:ext cx="91440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3D7BD9"/>
                </a:solidFill>
                <a:latin typeface="Microsoft YaHei"/>
                <a:ea typeface="Microsoft YaHei"/>
              </a:rPr>
              <a:t>&gt;&gt;&gt;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6236208"/>
            <a:ext cx="429768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16A34A"/>
                </a:solidFill>
                <a:latin typeface="Microsoft YaHei"/>
                <a:ea typeface="Microsoft YaHei"/>
              </a:rPr>
              <a:t>成对设计，协同调参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B3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0" b="1">
                <a:solidFill>
                  <a:srgbClr val="3D7BD9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B9CDEF"/>
                </a:solidFill>
                <a:latin typeface="Microsoft YaHei"/>
                <a:ea typeface="Microsoft YaHei"/>
              </a:rPr>
              <a:t>TEACHING &amp;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033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教学组织与评价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6235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D6E2F6"/>
                </a:solidFill>
                <a:latin typeface="Microsoft YaHei"/>
                <a:ea typeface="Microsoft YaHei"/>
              </a:rPr>
              <a:t>· 分层任务：基础必做 / 进阶选做 / 挑战任务，结果不唯一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00760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D6E2F6"/>
                </a:solidFill>
                <a:latin typeface="Microsoft YaHei"/>
                <a:ea typeface="Microsoft YaHei"/>
              </a:rPr>
              <a:t>· 典型错误引导：前视偏差 · 忽略成本 · 样本内偷看 · 选择性报告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39165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D6E2F6"/>
                </a:solidFill>
                <a:latin typeface="Microsoft YaHei"/>
                <a:ea typeface="Microsoft YaHei"/>
              </a:rPr>
              <a:t>· 四维评价量规：过程可追溯 · 解释合理性 · 实验完整性 · 报告规范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1E4FA8"/>
                </a:solidFill>
                <a:latin typeface="Microsoft YaHei"/>
                <a:ea typeface="Microsoft YaHei"/>
              </a:rPr>
              <a:t>04 教学组织与评价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1A2230"/>
                </a:solidFill>
                <a:latin typeface="Microsoft YaHei"/>
                <a:ea typeface="Microsoft YaHei"/>
              </a:rPr>
              <a:t>分层任务设计：每个学生都有可到达的「最近发展区」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Microsoft YaHei"/>
                <a:ea typeface="Microsoft YaHei"/>
              </a:rPr>
              <a:t>必做保底、选做分层、挑战拔尖——实验结果不唯一，干预规则的设计空间向学生开放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783080"/>
            <a:ext cx="777240" cy="41148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361188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3611880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67128"/>
            <a:ext cx="3611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基础任务（必做）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32461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50" b="0">
                <a:solidFill>
                  <a:srgbClr val="4A5568"/>
                </a:solidFill>
                <a:latin typeface="Microsoft YaHei"/>
                <a:ea typeface="Microsoft YaHei"/>
              </a:rPr>
              <a:t>· 改进干预机制：替换「触线减半」，重跑全部实验并用数据论证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50" b="0">
                <a:solidFill>
                  <a:srgbClr val="4A5568"/>
                </a:solidFill>
                <a:latin typeface="Microsoft YaHei"/>
                <a:ea typeface="Microsoft YaHei"/>
              </a:rPr>
              <a:t>· 完整复现：从数据生成到结论一键重跑，验证与案例报告一致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103120"/>
            <a:ext cx="361188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2103120"/>
            <a:ext cx="3611880" cy="457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5112" y="2167128"/>
            <a:ext cx="3611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进阶任务（选做）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743200"/>
            <a:ext cx="32461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50" b="0">
                <a:solidFill>
                  <a:srgbClr val="4A5568"/>
                </a:solidFill>
                <a:latin typeface="Microsoft YaHei"/>
                <a:ea typeface="Microsoft YaHei"/>
              </a:rPr>
              <a:t>· 把信号命中率降到 50%（无预测力）重做实验，解释为何风险预算组相对抗跌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50" b="0">
                <a:solidFill>
                  <a:srgbClr val="4A5568"/>
                </a:solidFill>
                <a:latin typeface="Microsoft YaHei"/>
                <a:ea typeface="Microsoft YaHei"/>
              </a:rPr>
              <a:t>· 以卡玛比率为目标在（凯利缩放×预算线）网格上搜索，讨论是否过拟合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7304" y="2103120"/>
            <a:ext cx="361188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7304" y="2103120"/>
            <a:ext cx="3611880" cy="457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47304" y="2167128"/>
            <a:ext cx="3611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挑战任务（拔尖）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4" y="2743200"/>
            <a:ext cx="32461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50" b="0">
                <a:solidFill>
                  <a:srgbClr val="4A5568"/>
                </a:solidFill>
                <a:latin typeface="Microsoft YaHei"/>
                <a:ea typeface="Microsoft YaHei"/>
              </a:rPr>
              <a:t>· 接入真实公开信号源（或自研大模型信号）在相同规则下重跑，分解「信号质量」与「仓位规则」各自的绩效贡献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6144768"/>
            <a:ext cx="11183112" cy="50292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236208"/>
            <a:ext cx="585216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E3F8C"/>
                </a:solidFill>
                <a:latin typeface="Microsoft YaHei"/>
                <a:ea typeface="Microsoft YaHei"/>
              </a:rPr>
              <a:t>开放的干预规则设计空间 = 「结果不唯一」的评审要求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236208"/>
            <a:ext cx="91440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3D7BD9"/>
                </a:solidFill>
                <a:latin typeface="Microsoft YaHei"/>
                <a:ea typeface="Microsoft YaHei"/>
              </a:rPr>
              <a:t>&gt;&gt;&gt;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6236208"/>
            <a:ext cx="429768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16A34A"/>
                </a:solidFill>
                <a:latin typeface="Microsoft YaHei"/>
                <a:ea typeface="Microsoft YaHei"/>
              </a:rPr>
              <a:t>人人有得做，拔尖有挑战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1E4FA8"/>
                </a:solidFill>
                <a:latin typeface="Microsoft YaHei"/>
                <a:ea typeface="Microsoft YaHei"/>
              </a:rPr>
              <a:t>04 教学组织与评价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1A2230"/>
                </a:solidFill>
                <a:latin typeface="Microsoft YaHei"/>
                <a:ea typeface="Microsoft YaHei"/>
              </a:rPr>
              <a:t>典型错误引导：实验前必读的四个坑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Microsoft YaHei"/>
                <a:ea typeface="Microsoft YaHei"/>
              </a:rPr>
              <a:t>每个坑都给出「错误现象 → 为什么错 → 如何自查」的三段式排查路径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783080"/>
            <a:ext cx="777240" cy="41148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91440" cy="178308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21284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A2230"/>
                </a:solidFill>
                <a:latin typeface="Microsoft YaHei"/>
                <a:ea typeface="Microsoft YaHei"/>
              </a:rPr>
              <a:t>坑 1：前视偏差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560320"/>
            <a:ext cx="4983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80" b="0">
                <a:solidFill>
                  <a:srgbClr val="4A5568"/>
                </a:solidFill>
                <a:latin typeface="Microsoft YaHei"/>
                <a:ea typeface="Microsoft YaHei"/>
              </a:rPr>
              <a:t>信号在 t 日收盘后生成，只能作用于 t+1 及以后收益；直接对齐 t 日收益会让所有策略虚高。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47472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80" b="1">
                <a:solidFill>
                  <a:srgbClr val="16A34A"/>
                </a:solidFill>
                <a:latin typeface="Microsoft YaHei"/>
                <a:ea typeface="Microsoft YaHei"/>
              </a:rPr>
              <a:t>自查：</a:t>
            </a:r>
            <a:r>
              <a:rPr sz="980" b="0">
                <a:solidFill>
                  <a:srgbClr val="4A5568"/>
                </a:solidFill>
                <a:latin typeface="Microsoft YaHei"/>
                <a:ea typeface="Microsoft YaHei"/>
              </a:rPr>
              <a:t>检查信号生效时间是否对齐到「收盘后」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0312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103120"/>
            <a:ext cx="91440" cy="178308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21284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A2230"/>
                </a:solidFill>
                <a:latin typeface="Microsoft YaHei"/>
                <a:ea typeface="Microsoft YaHei"/>
              </a:rPr>
              <a:t>坑 2：忽略成本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560320"/>
            <a:ext cx="4983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80" b="0">
                <a:solidFill>
                  <a:srgbClr val="4A5568"/>
                </a:solidFill>
                <a:latin typeface="Microsoft YaHei"/>
                <a:ea typeface="Microsoft YaHei"/>
              </a:rPr>
              <a:t>5bp 很小，但满仓组年化拖累 8.8 个百分点——不做成本扣除的回测没有讨论价值。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47472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80" b="1">
                <a:solidFill>
                  <a:srgbClr val="16A34A"/>
                </a:solidFill>
                <a:latin typeface="Microsoft YaHei"/>
                <a:ea typeface="Microsoft YaHei"/>
              </a:rPr>
              <a:t>自查：</a:t>
            </a:r>
            <a:r>
              <a:rPr sz="980" b="0">
                <a:solidFill>
                  <a:srgbClr val="4A5568"/>
                </a:solidFill>
                <a:latin typeface="Microsoft YaHei"/>
                <a:ea typeface="Microsoft YaHei"/>
              </a:rPr>
              <a:t>核对回测引擎是否在换仓日扣除换手×5bp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69079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069079"/>
            <a:ext cx="91440" cy="178308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4178807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A2230"/>
                </a:solidFill>
                <a:latin typeface="Microsoft YaHei"/>
                <a:ea typeface="Microsoft YaHei"/>
              </a:rPr>
              <a:t>坑 3：样本内偷看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4526279"/>
            <a:ext cx="4983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80" b="0">
                <a:solidFill>
                  <a:srgbClr val="4A5568"/>
                </a:solidFill>
                <a:latin typeface="Microsoft YaHei"/>
                <a:ea typeface="Microsoft YaHei"/>
              </a:rPr>
              <a:t>用全样本估计凯利分数等于偷看答案，样本外检验形同虚设。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5440679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80" b="1">
                <a:solidFill>
                  <a:srgbClr val="16A34A"/>
                </a:solidFill>
                <a:latin typeface="Microsoft YaHei"/>
                <a:ea typeface="Microsoft YaHei"/>
              </a:rPr>
              <a:t>自查：</a:t>
            </a:r>
            <a:r>
              <a:rPr sz="980" b="0">
                <a:solidFill>
                  <a:srgbClr val="4A5568"/>
                </a:solidFill>
                <a:latin typeface="Microsoft YaHei"/>
                <a:ea typeface="Microsoft YaHei"/>
              </a:rPr>
              <a:t>确认所有参数只使用前 70% 样本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069079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4069079"/>
            <a:ext cx="91440" cy="178308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4178807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A2230"/>
                </a:solidFill>
                <a:latin typeface="Microsoft YaHei"/>
                <a:ea typeface="Microsoft YaHei"/>
              </a:rPr>
              <a:t>坑 4：选择性报告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526279"/>
            <a:ext cx="4983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80" b="0">
                <a:solidFill>
                  <a:srgbClr val="4A5568"/>
                </a:solidFill>
                <a:latin typeface="Microsoft YaHei"/>
                <a:ea typeface="Microsoft YaHei"/>
              </a:rPr>
              <a:t>只展示「干预有效」的情形是评审最反感的做法。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5440679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80" b="1">
                <a:solidFill>
                  <a:srgbClr val="16A34A"/>
                </a:solidFill>
                <a:latin typeface="Microsoft YaHei"/>
                <a:ea typeface="Microsoft YaHei"/>
              </a:rPr>
              <a:t>自查：</a:t>
            </a:r>
            <a:r>
              <a:rPr sz="980" b="0">
                <a:solidFill>
                  <a:srgbClr val="4A5568"/>
                </a:solidFill>
                <a:latin typeface="Microsoft YaHei"/>
                <a:ea typeface="Microsoft YaHei"/>
              </a:rPr>
              <a:t>同时报告反事实（移除干预）结果并讨论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6144768"/>
            <a:ext cx="11183112" cy="50292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236208"/>
            <a:ext cx="585216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E3F8C"/>
                </a:solidFill>
                <a:latin typeface="Microsoft YaHei"/>
                <a:ea typeface="Microsoft YaHei"/>
              </a:rPr>
              <a:t>把坑写进指导手册，是把「翻车点」变成「教学点」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6236208"/>
            <a:ext cx="91440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3D7BD9"/>
                </a:solidFill>
                <a:latin typeface="Microsoft YaHei"/>
                <a:ea typeface="Microsoft YaHei"/>
              </a:rPr>
              <a:t>&gt;&gt;&gt;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6236208"/>
            <a:ext cx="429768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16A34A"/>
                </a:solidFill>
                <a:latin typeface="Microsoft YaHei"/>
                <a:ea typeface="Microsoft YaHei"/>
              </a:rPr>
              <a:t>错误是最好的教具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1E4FA8"/>
                </a:solidFill>
                <a:latin typeface="Microsoft YaHei"/>
                <a:ea typeface="Microsoft YaHei"/>
              </a:rPr>
              <a:t>04 教学组织与评价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1A2230"/>
                </a:solidFill>
                <a:latin typeface="Microsoft YaHei"/>
                <a:ea typeface="Microsoft YaHei"/>
              </a:rPr>
              <a:t>四维评价量规：重过程、重解释，不重收益率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Microsoft YaHei"/>
                <a:ea typeface="Microsoft YaHei"/>
              </a:rPr>
              <a:t>评分侧重「过程可追溯」与「解释合理性」——高收益不加分，不可复现扣大分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783080"/>
            <a:ext cx="777240" cy="41148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148840"/>
          <a:ext cx="111556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3291840"/>
                <a:gridCol w="2926080"/>
                <a:gridCol w="2286000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</a:p>
                  </a:txBody>
                  <a:tcPr marT="12700" marB="12700" anchor="ctr"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权重</a:t>
                      </a:r>
                    </a:p>
                  </a:txBody>
                  <a:tcPr marT="12700" marB="12700" anchor="ctr"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优（90–100）</a:t>
                      </a:r>
                    </a:p>
                  </a:txBody>
                  <a:tcPr marT="12700" marB="12700" anchor="ctr"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合格（60–75）</a:t>
                      </a:r>
                    </a:p>
                  </a:txBody>
                  <a:tcPr marT="12700" marB="12700" anchor="ctr"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不合格（&lt;60）</a:t>
                      </a:r>
                    </a:p>
                  </a:txBody>
                  <a:tcPr marT="12700" marB="12700" anchor="ctr">
                    <a:solidFill>
                      <a:srgbClr val="0E3F8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过程可追溯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30%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每个数字可由代码一键复现，随机种子与参数全记录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主体可复现，个别参数缺失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结果无法重现或依赖手工录入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解释合理性</a:t>
                      </a:r>
                    </a:p>
                  </a:txBody>
                  <a:tcPr marT="12700" marB="12700" anchor="ctr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30%</a:t>
                      </a:r>
                    </a:p>
                  </a:txBody>
                  <a:tcPr marT="12700" marB="12700" anchor="ctr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结论与证据严格匹配，主动讨论反事实与局限</a:t>
                      </a:r>
                    </a:p>
                  </a:txBody>
                  <a:tcPr marT="12700" marB="12700" anchor="ctr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结论基本有据，局限讨论薄弱</a:t>
                      </a:r>
                    </a:p>
                  </a:txBody>
                  <a:tcPr marT="12700" marB="12700" anchor="ctr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结论脱离数据或回避不利证据</a:t>
                      </a:r>
                    </a:p>
                  </a:txBody>
                  <a:tcPr marT="12700" marB="12700" anchor="ctr">
                    <a:solidFill>
                      <a:srgbClr val="F4F8F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实验完整性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20%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对照+样本外+敏感性+反事实四件套齐全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缺一项但有替代论证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仅单一区间或单一参数下结论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报告规范</a:t>
                      </a:r>
                    </a:p>
                  </a:txBody>
                  <a:tcPr marT="12700" marB="12700" anchor="ctr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20%</a:t>
                      </a:r>
                    </a:p>
                  </a:txBody>
                  <a:tcPr marT="12700" marB="12700" anchor="ctr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结构完整、图表清晰、匿名合规、口径一致</a:t>
                      </a:r>
                    </a:p>
                  </a:txBody>
                  <a:tcPr marT="12700" marB="12700" anchor="ctr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结构完整但图表粗糙</a:t>
                      </a:r>
                    </a:p>
                  </a:txBody>
                  <a:tcPr marT="12700" marB="12700" anchor="ctr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缺环节或出现身份信息</a:t>
                      </a:r>
                    </a:p>
                  </a:txBody>
                  <a:tcPr marT="12700" marB="12700" anchor="ctr">
                    <a:solidFill>
                      <a:srgbClr val="F4F8F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6144768"/>
            <a:ext cx="11183112" cy="50292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236208"/>
            <a:ext cx="585216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E3F8C"/>
                </a:solidFill>
                <a:latin typeface="Microsoft YaHei"/>
                <a:ea typeface="Microsoft YaHei"/>
              </a:rPr>
              <a:t>量规先行发布：学生知道怎么被评，才知道怎么学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236208"/>
            <a:ext cx="91440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3D7BD9"/>
                </a:solidFill>
                <a:latin typeface="Microsoft YaHei"/>
                <a:ea typeface="Microsoft YaHei"/>
              </a:rPr>
              <a:t>&gt;&gt;&gt;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6236208"/>
            <a:ext cx="4297680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16A34A"/>
                </a:solidFill>
                <a:latin typeface="Microsoft YaHei"/>
                <a:ea typeface="Microsoft YaHei"/>
              </a:rPr>
              <a:t>评过程，不评运气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B9CDEF"/>
                </a:solidFill>
                <a:latin typeface="Microsoft YaHei"/>
                <a:ea typeface="Microsoft YaHei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结语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607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2000" b="0">
                <a:solidFill>
                  <a:srgbClr val="FFFFFF"/>
                </a:solidFill>
                <a:latin typeface="Microsoft YaHei"/>
                <a:ea typeface="Microsoft YaHei"/>
              </a:rPr>
              <a:t>让每一名学生在真金白银之前，先在虚拟仿真沙盘上亲历一次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「预测力 ≠ 盈利能力」的教训，带走一套可验证、可复核、可追溯的决策纪律。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9FD6B4"/>
                </a:solidFill>
                <a:latin typeface="Microsoft YaHei"/>
                <a:ea typeface="Microsoft YaHei"/>
              </a:rPr>
              <a:t>AI 是外骨骼，扣动扳机的必须是懂风险预算的人。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212080"/>
            <a:ext cx="10515600" cy="18288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D6E2F6"/>
                </a:solidFill>
                <a:latin typeface="Microsoft YaHei"/>
                <a:ea typeface="Microsoft YaHei"/>
              </a:rPr>
              <a:t>感谢各位评委老师的聆听与指正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8FB4E4"/>
                </a:solidFill>
                <a:latin typeface="Microsoft YaHei"/>
                <a:ea typeface="Microsoft YaHei"/>
              </a:rPr>
              <a:t>AI 选股信号该配多大仓位？——虚拟仿真下的风险预算干预实验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