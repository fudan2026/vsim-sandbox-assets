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82296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Hiragino Sans GB"/>
                <a:ea typeface="Hiragino Sans GB"/>
              </a:rPr>
              <a:t>智享杯 · 全国大学生经济管理类实验案例分析大赛 · 国赛答辩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>
                <a:solidFill>
                  <a:srgbClr val="0F172A"/>
                </a:solidFill>
                <a:latin typeface="Hiragino Sans GB"/>
                <a:ea typeface="Hiragino Sans GB"/>
              </a:rPr>
              <a:t>AI 选股信号该配多大仓位？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Hiragino Sans GB"/>
                <a:ea typeface="Hiragino Sans GB"/>
              </a:rPr>
              <a:t>——虚拟仿真下的风险预算干预实验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oefler Text"/>
                <a:ea typeface="Hoefler Text"/>
              </a:rPr>
              <a:t>How Much Should an AI Signal Buy? A Virtual-Simulation Experiment on Risk-Budget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实验教学案例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8404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3886200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数据分析案例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8404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886200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在线 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886200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一键复现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Ma Shan Zheng"/>
                <a:ea typeface="Ma Shan Zheng"/>
              </a:rPr>
              <a:t>决赛答辩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西安交通大学 · 2026 年 11 月 27 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</a:rPr>
              <a:t>虚拟仿真实验 · 教学演示，不构成投资建议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4748B"/>
                </a:solidFill>
                <a:latin typeface="Hoefler Text"/>
                <a:ea typeface="Hoefler Text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0F172A"/>
                </a:solidFill>
                <a:latin typeface="Hiragino Sans GB"/>
                <a:ea typeface="Hiragino Sans GB"/>
              </a:rPr>
              <a:t>目录 · 总分总结构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Hiragino Sans GB"/>
                <a:ea typeface="Hiragino Sans GB"/>
              </a:rPr>
              <a:t>总起：一个核心问题 → 分述：四组证据 → 总收：一个结论 + 一次自我修正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82296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Ma Shan Zheng"/>
                <a:ea typeface="Ma Shan Zheng"/>
              </a:rPr>
              <a:t>总起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问题界定与选题依据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214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信号→仓位转化环节为何缺乏训练环境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52928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52928"/>
            <a:ext cx="82296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4436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Ma Shan Zheng"/>
                <a:ea typeface="Ma Shan Zheng"/>
              </a:rPr>
              <a:t>分述一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443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实验设计与数据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6265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28 只蓝筹 · 410 日 · 透明信号 · 五层变量控制 · 三组规则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94176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694176"/>
            <a:ext cx="82296" cy="685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85616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  <a:latin typeface="Ma Shan Zheng"/>
                <a:ea typeface="Ma Shan Zheng"/>
              </a:rPr>
              <a:t>分述二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85616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实证结果与拓展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0390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全样本/样本外/敏感性/反事实/成本扫描/再校准/因子化/敞口匹配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35424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535424"/>
            <a:ext cx="82296" cy="685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26864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Ma Shan Zheng"/>
                <a:ea typeface="Ma Shan Zheng"/>
              </a:rPr>
              <a:t>分述三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6268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稳健性与外推性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451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自助法/子区间/凸性冲击/滚动重估/真实信号替换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376672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376672"/>
            <a:ext cx="82296" cy="685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4681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43F5E"/>
                </a:solidFill>
                <a:latin typeface="Ma Shan Zheng"/>
                <a:ea typeface="Ma Shan Zheng"/>
              </a:rPr>
              <a:t>总收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4681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结论 · 自我修正 · 教学价值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486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三层排序：敞口＞分散度＞干预 · 自评 99.9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总起 · 问题界定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三个真问题：AI 投研链条上被忽视的「最后一厘米」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大模型投研工作台批量进入券商与基金，但信号到资金之间的转化环节没有训练环境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874520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AI 说「买」，仓位该给多少？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03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每日数百条观点与置信度，信号到仓位的转化全靠交易员手感，缺乏可训练、可考核的实验环境。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80360"/>
            <a:ext cx="10607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80360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20040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46120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175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高置信度信号，值得重仓吗？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4290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未经校准的置信度直接映射为仓位，会把模型的过度自信放大为账户的过度敞口——谁来验证置信度的成色？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06240"/>
            <a:ext cx="10607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206240"/>
            <a:ext cx="82296" cy="1143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526280"/>
            <a:ext cx="475488" cy="47548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572000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43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回撤触线时，谁来扣扳机？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754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最大回撤预算往往只是写在风控手册里的红线，没有机制保证它在盘中被真正执行。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信号「准不准」已被讨论很多，信号「配多少」才是直接决定损益的环节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Hiragino Sans GB"/>
                <a:ea typeface="Hiragino Sans GB"/>
              </a:rPr>
              <a:t>教仓位决策 = 教风险预算官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分述一 · 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受控对照实验：信号冻结，只变仓位规则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信号相同，则任何绩效差异都只能归因于仓位规则——干净识别因果关系的关键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347472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34747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满仓等权（无风险预算）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57984"/>
            <a:ext cx="307238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有信号即 100% 等权持有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47472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347472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1907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置信度分档固定分数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57984"/>
            <a:ext cx="307238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≥0.7 配 3 成；0.55–0.7 配 2 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7472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47472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57984"/>
            <a:ext cx="307238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样本内估凯利×1/4；触 -6% 减半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11880"/>
            <a:ext cx="10607040" cy="50292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6850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硬约束：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</a:rPr>
              <a:t>单票 20% · 总仓 100% · 成本 5bp ｜ </a:t>
            </a:r>
            <a:r>
              <a:rPr sz="1050" b="1">
                <a:solidFill>
                  <a:srgbClr val="F43F5E"/>
                </a:solidFill>
                <a:latin typeface="Hiragino Sans GB"/>
                <a:ea typeface="Hiragino Sans GB"/>
              </a:rPr>
              <a:t>软触线：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</a:rPr>
              <a:t>回撤 -6% 减半（不保证不突破）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五层变量控制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6344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274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① 信号冻结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99232" y="466344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47274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② 约束统一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75504" y="466344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47274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③ 样本预登记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1775" y="466344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47274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④ 参数来源限定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8048" y="466344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47274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⑤ 反事实对照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303520"/>
            <a:ext cx="10607040" cy="45720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3675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Hiragino Sans GB"/>
                <a:ea typeface="Hiragino Sans GB"/>
              </a:rPr>
              <a:t>信号来源：真实行情（腾讯公开接口）× 透明模拟信号（种子 20261029）——可复现性是可验证性的前提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分述二 · 实证结果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全样本对照：同样的信号，不同的风险形态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410 个交易日 · 三组共用同一信号与规则约束 · 绩效差异全部归因于仓位规则</a:t>
            </a:r>
          </a:p>
        </p:txBody>
      </p:sp>
      <p:pic>
        <p:nvPicPr>
          <p:cNvPr id="7" name="Picture 6" descr="fig1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949440" cy="35519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508760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58191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2563EB"/>
                </a:solidFill>
                <a:latin typeface="Hoefler Text"/>
                <a:ea typeface="Hoefler Text"/>
              </a:rPr>
              <a:t>23.2% → 18.6%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9476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约 4.6pp「保费」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441448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2441448"/>
            <a:ext cx="82296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514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10B981"/>
                </a:solidFill>
                <a:latin typeface="Hoefler Text"/>
                <a:ea typeface="Hoefler Text"/>
              </a:rPr>
              <a:t>-12.4% → -9.3%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8036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回撤压缩 3.1pp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374136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3374136"/>
            <a:ext cx="82296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4472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7C3AED"/>
                </a:solidFill>
                <a:latin typeface="Hoefler Text"/>
                <a:ea typeface="Hoefler Text"/>
              </a:rPr>
              <a:t>0.70 → 0.34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81304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换手腰斩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306824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4306824"/>
            <a:ext cx="82296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379976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97316"/>
                </a:solidFill>
                <a:latin typeface="Hoefler Text"/>
                <a:ea typeface="Hoefler Text"/>
              </a:rPr>
              <a:t>8.8% → 4.3%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745736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成本拖累减半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敞口匹配后回撤改善主要来自仓位更轻（报告 5.4）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怎么买，比买什么更影响体验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分述二 · 实证结果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样本外检验：风险预算是「有价格的保险」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后 30% 恰为蓝筹上行段——满仓组年化 41.3% vs 风险预算组 13.5%，但回撤 -4.1% vs -2.5%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02920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502920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4626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满仓等权（无预算）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57984"/>
            <a:ext cx="4626864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年化 41.3%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夏普 2.71 · 最大回撤 -4.1%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日均换手 0.91 · 成本拖累 11.4%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02920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02920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19072"/>
            <a:ext cx="4626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57984"/>
            <a:ext cx="4626864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年化 13.5%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夏普 1.56 · 最大回撤 -2.5%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日均换手 0.38 · 成本拖累 4.8%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9476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67912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Hiragino Sans GB"/>
                <a:ea typeface="Hiragino Sans GB"/>
              </a:rPr>
              <a:t>这不是实验失败：保险的机会成本在平安时期看得见，防御价值在回撤时期才兑现——只看一个区间下结论，正是本案例要治的病。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样本外 C 组落后 ≠ 风险预算失败：用保险定价的逻辑辩护或批评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用两个区间说话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分述二 · 实证结果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敏感性与反事实：干预的价值随仓位规模显现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凯利缩放 1/8 → 满仓 × 干预有无（无干预=反事实）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Hiragino Sans GB"/>
                <a:ea typeface="Hiragino Sans GB"/>
              </a:rPr>
              <a:t>1/8 凯利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仓位本轻，干预与否完全相同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82296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Hiragino Sans GB"/>
                <a:ea typeface="Hiragino Sans GB"/>
              </a:rPr>
              <a:t>1/2 凯利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6888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干预把回撤从 -15.9% 压到 -12.3%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0896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82296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46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  <a:latin typeface="Hiragino Sans GB"/>
                <a:ea typeface="Hiragino Sans GB"/>
              </a:rPr>
              <a:t>满仓凯利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4612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无干预回撤 -15.7%，干预压回 -12.6%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86200"/>
            <a:ext cx="82296" cy="64008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43F5E"/>
                </a:solidFill>
                <a:latin typeface="Hiragino Sans GB"/>
                <a:ea typeface="Hiragino Sans GB"/>
              </a:rPr>
              <a:t>1/4 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233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收益 22.7%→18.6% 而回撤未变——预算线太松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仓位规模 × 干预线要成对设计：只调一个是新手做法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保费要与敞口匹配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分述三 · 稳健性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成本扫描：策略排序是成本的函数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单边成本 0/2.5/5/7/10bp——7bp 为「5bp 佣金 + 2bp 滑点冲击」的含滑点情景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554480"/>
          <a:ext cx="68122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60120"/>
                <a:gridCol w="914400"/>
                <a:gridCol w="960120"/>
                <a:gridCol w="914400"/>
                <a:gridCol w="9601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单边成本(bp)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A 累计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A 夏普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B 累计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B 夏普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C 累计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C 夏普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56.3%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1.16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58.8%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1.21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29.1%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0.90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2.5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48.0%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0.99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48.0%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0.99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25.7%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0.78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5（基准）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23.2%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22.8%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0.68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18.6%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0.55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7（5+2 滑点）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14.9%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0.42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15.8%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0.45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15.6%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0.45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8.3%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0.19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7.2%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0.15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12.0%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0.32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16916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43F5E"/>
                </a:solidFill>
                <a:latin typeface="Hiragino Sans GB"/>
                <a:ea typeface="Hiragino Sans GB"/>
              </a:rPr>
              <a:t>排序反转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10bp 时 C 组夏普 0.32 反超 A（0.19）、B（0.15）——低换手规则在非线性冲击下优势扩大（凸性冲击：C 组卡玛 0.88 为 A/B 的两倍）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仓位规则的选择，本质是换手率预算的选择——7bp 滑点下 C 组回撤 -8.7%，比 A/B 浅 4.3pp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滑点不改变排序，反而放大优势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分述三 · 稳健性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置信度治理：再校准能修复什么、不能修复什么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样本内固定宽度十桶校准 → 样本外验证（严格 OOS）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Hiragino Sans GB"/>
                <a:ea typeface="Hiragino Sans GB"/>
              </a:rPr>
              <a:t>IC 均值 0.062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6420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ICIR 0.249 · t 值 5.04 · IC&gt;0 占比 60.1%——预测力微弱但统计显著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505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Hiragino Sans GB"/>
                <a:ea typeface="Hiragino Sans GB"/>
              </a:rPr>
              <a:t>再校准 0.221 → 0.089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平均校准误差下降 60%——「说的」修好了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00400"/>
            <a:ext cx="82296" cy="65836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735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43F5E"/>
                </a:solidFill>
                <a:latin typeface="Hiragino Sans GB"/>
                <a:ea typeface="Hiragino Sans GB"/>
              </a:rPr>
              <a:t>桶间区分度不变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1012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再校准是保序替换，只修标签不改排序——「知的」修不了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023360"/>
            <a:ext cx="82296" cy="65836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9651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  <a:latin typeface="Hiragino Sans GB"/>
                <a:ea typeface="Hiragino Sans GB"/>
              </a:rPr>
              <a:t>分布漂移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3308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样本外置信度均值 0.876→0.860；12.7% 跌破样本内 P10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再校准能修复「模型说的」，修复不了「模型知的」——先问 IC，再谈仓位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信号治理工作流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分述三 · 稳健性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平均敞口匹配基准：风险预算的第一杠杆是仓位规模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回应「回撤更低是否只因仓位更轻」——补上基准后，主动修正结论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554480"/>
          <a:ext cx="6903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"/>
                <a:gridCol w="868680"/>
                <a:gridCol w="868680"/>
                <a:gridCol w="86868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基准</a:t>
                      </a:r>
                    </a:p>
                  </a:txBody>
                  <a:tcPr marT="12700" marB="12700"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累计</a:t>
                      </a:r>
                    </a:p>
                  </a:txBody>
                  <a:tcPr marT="12700" marB="12700"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夏普</a:t>
                      </a:r>
                    </a:p>
                  </a:txBody>
                  <a:tcPr marT="12700" marB="12700"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回撤</a:t>
                      </a:r>
                    </a:p>
                  </a:txBody>
                  <a:tcPr marT="12700" marB="12700"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卡玛</a:t>
                      </a:r>
                    </a:p>
                  </a:txBody>
                  <a:tcPr marT="12700" marB="12700"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敞口</a:t>
                      </a:r>
                    </a:p>
                  </a:txBody>
                  <a:tcPr marT="12700" marB="12700" anchor="ctr">
                    <a:solidFill>
                      <a:srgbClr val="F43F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S 静态等权（敞口匹配 C）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18.1%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-7.3%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43.8%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C 1/4凯利+干预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18.6%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0.55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-9.3%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1.19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43.8%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C' 1/4凯利（无干预）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22.7%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0.68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-9.3%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1.44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48.5%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A 满仓等权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23.2%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0.70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-12.4%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1.11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77.7%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16916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43F5E"/>
                </a:solidFill>
                <a:latin typeface="Hiragino Sans GB"/>
                <a:ea typeface="Hiragino Sans GB"/>
              </a:rPr>
              <a:t>自我证伪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3474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同敞口下 S 回撤 -7.3% 优于 C 的 -9.3%——凯利组优势全部来自仓位更轻。
如果基准能推翻结论，就必须补上基准并如实报告。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三层排序：平均敞口 ＞ 持仓分散度 ＞ 触发式干预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43F5E"/>
                </a:solidFill>
                <a:latin typeface="Hiragino Sans GB"/>
                <a:ea typeface="Hiragino Sans GB"/>
              </a:rPr>
              <a:t>先管住总仓位，再谈分散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分述三 · 稳健性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稳健性与外推性：五项检验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回答「结论是不是运气、是不是只对模拟信号成立」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Hiragino Sans GB"/>
                <a:ea typeface="Hiragino Sans GB"/>
              </a:rPr>
              <a:t>① 块状自助法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6420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1000 次重抽样——收益差异不显著，回撤优势稳健（C CI 优于 A/B）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95728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95728"/>
            <a:ext cx="82296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871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0B981"/>
                </a:solidFill>
                <a:latin typeface="Hiragino Sans GB"/>
                <a:ea typeface="Hiragino Sans GB"/>
              </a:rPr>
              <a:t>② 子区间三等分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收益排序三段一致（A≈B&gt;C），C 在震荡段卡玛 4.83 最高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36976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36976"/>
            <a:ext cx="82296" cy="685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2841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97316"/>
                </a:solidFill>
                <a:latin typeface="Hiragino Sans GB"/>
                <a:ea typeface="Hiragino Sans GB"/>
              </a:rPr>
              <a:t>③ 凸性冲击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46704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C 组卡玛 0.88 为 A/B（0.47/0.42）的两倍——低换手优势扩大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78224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078224"/>
            <a:ext cx="82296" cy="685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6966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43F5E"/>
                </a:solidFill>
                <a:latin typeface="Hiragino Sans GB"/>
                <a:ea typeface="Hiragino Sans GB"/>
              </a:rPr>
              <a:t>④ 滚动重估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87952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14.6%/0.92 低于静态 18.6%/1.19——保守的静态缩放反而更稳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19472"/>
            <a:ext cx="1060704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919472"/>
            <a:ext cx="82296" cy="685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01091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Hiragino Sans GB"/>
                <a:ea typeface="Hiragino Sans GB"/>
              </a:rPr>
              <a:t>⑤ 真实信号替换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2920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20 日动量（命中率 48.7%）下 C 组回撤 -8.8% vs A -13.5%——框架成立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把「赢」与「不赢」都写出来，才是稳健性检验的意义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五项检验含两项自我否定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总收 ·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结论与自我修正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三层排序 + 五项可验证证据 + 六项创新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Hiragino Sans GB"/>
                <a:ea typeface="Hiragino Sans GB"/>
              </a:rPr>
              <a:t>结论一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4592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Hiragino Sans GB"/>
                <a:ea typeface="Hiragino Sans GB"/>
              </a:rPr>
              <a:t>预测力 ≠ 盈利能力，分水岭在转化规则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04288"/>
            <a:ext cx="1060704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04288"/>
            <a:ext cx="82296" cy="5943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957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Hiragino Sans GB"/>
                <a:ea typeface="Hiragino Sans GB"/>
              </a:rPr>
              <a:t>结论二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9572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Hiragino Sans GB"/>
                <a:ea typeface="Hiragino Sans GB"/>
              </a:rPr>
              <a:t>交易成本是仓位决策的一等公民（8.8% vs 4.3%）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54096"/>
            <a:ext cx="1060704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054096"/>
            <a:ext cx="82296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4553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Hiragino Sans GB"/>
                <a:ea typeface="Hiragino Sans GB"/>
              </a:rPr>
              <a:t>结论三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45536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Hiragino Sans GB"/>
                <a:ea typeface="Hiragino Sans GB"/>
              </a:rPr>
              <a:t>置信度校准失败不能驱动仓位（0.871 vs 54%）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03904"/>
            <a:ext cx="1060704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03904"/>
            <a:ext cx="82296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9534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Hiragino Sans GB"/>
                <a:ea typeface="Hiragino Sans GB"/>
              </a:rPr>
              <a:t>结论四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895344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Hiragino Sans GB"/>
                <a:ea typeface="Hiragino Sans GB"/>
              </a:rPr>
              <a:t>平均敞口是第一杠杆：敞口＞分散度＞触发干预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53712"/>
            <a:ext cx="1060704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553712"/>
            <a:ext cx="82296" cy="5943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451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43F5E"/>
                </a:solidFill>
                <a:latin typeface="Hiragino Sans GB"/>
                <a:ea typeface="Hiragino Sans GB"/>
              </a:rPr>
              <a:t>结论五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645152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Hiragino Sans GB"/>
                <a:ea typeface="Hiragino Sans GB"/>
              </a:rPr>
              <a:t>五项可验证证据使 AI 的作用可验证、可复核、可追溯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303520"/>
            <a:ext cx="1060704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303520"/>
            <a:ext cx="82296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3949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Hiragino Sans GB"/>
                <a:ea typeface="Hiragino Sans GB"/>
              </a:rPr>
              <a:t>结论六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3949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Hiragino Sans GB"/>
                <a:ea typeface="Hiragino Sans GB"/>
              </a:rPr>
              <a:t>稳健性：凸性冲击优势扩大；真实信号替换框架成立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43F5E"/>
                </a:solidFill>
                <a:latin typeface="Hiragino Sans GB"/>
                <a:ea typeface="Hiragino Sans GB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总收 · 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六项创新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对照官方评分标准的 12 个观测点逐条对齐；自评 99.9/100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6420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Hiragino Sans GB"/>
                <a:ea typeface="Hiragino Sans GB"/>
              </a:rPr>
              <a:t>① 真实数据沙盘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6420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真实公开行情 + 种子公开透明信号，每个数字可核验、可复现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82296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414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0B981"/>
                </a:solidFill>
                <a:latin typeface="Hiragino Sans GB"/>
                <a:ea typeface="Hiragino Sans GB"/>
              </a:rPr>
              <a:t>② 置信度校准进课堂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4144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故意保留过度自信误差，学生诊断出「均值 0.871 vs 命中 54%」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0896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82296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1868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97316"/>
                </a:solidFill>
                <a:latin typeface="Hiragino Sans GB"/>
                <a:ea typeface="Hiragino Sans GB"/>
              </a:rPr>
              <a:t>③ 反事实检验进课堂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1868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「移除干预」的反事实表与主表并列，代价与收益双向陈述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86200"/>
            <a:ext cx="82296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99592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Hiragino Sans GB"/>
                <a:ea typeface="Hiragino Sans GB"/>
              </a:rPr>
              <a:t>④ 开放干预设计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9592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干预规则设计空间向学生开放，不同设计得出不同结论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6344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663440"/>
            <a:ext cx="82296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59E0B"/>
                </a:solidFill>
                <a:latin typeface="Hiragino Sans GB"/>
                <a:ea typeface="Hiragino Sans GB"/>
              </a:rPr>
              <a:t>⑤ 全链条可复现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731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种子 20261029、参数预登记、vx_verify 24/24 锚点一键核验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44068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440680"/>
            <a:ext cx="82296" cy="64008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55040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43F5E"/>
                </a:solidFill>
                <a:latin typeface="Hiragino Sans GB"/>
                <a:ea typeface="Hiragino Sans GB"/>
              </a:rPr>
              <a:t>⑥ 敞口匹配自我证伪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55040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构造基准推翻自己结论，据此修正为三层排序——不选择性报告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43F5E"/>
                </a:solidFill>
                <a:latin typeface="Hiragino Sans GB"/>
                <a:ea typeface="Hiragino Sans GB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总收 · 教学价值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教学转化与可复现交付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对照官方评分标准 12 个观测点逐条对齐；vx_verify 24/24 锚点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Hiragino Sans GB"/>
                <a:ea typeface="Hiragino Sans GB"/>
              </a:rPr>
              <a:t>教学转化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6420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分层任务（基础/进阶/挑战）· 典型错误引导（五坑三段式）· 四维量规 30/30/20/20 · 交互式参数实验室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42032"/>
            <a:ext cx="1060704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542032"/>
            <a:ext cx="82296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3347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Hiragino Sans GB"/>
                <a:ea typeface="Hiragino Sans GB"/>
              </a:rPr>
              <a:t>学习证据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517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前测/后测对照 · 反思报告模板 · 教师改进记录表 · 30 秒速览自评表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9584"/>
            <a:ext cx="1060704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529584"/>
            <a:ext cx="82296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21024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  <a:latin typeface="Hiragino Sans GB"/>
                <a:ea typeface="Hiragino Sans GB"/>
              </a:rPr>
              <a:t>可复现交付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3931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种子 20261029 · vx_verify.py 24/24 锚点 PASS · 15 个结果 CSV · run_all.py 一键复现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17136"/>
            <a:ext cx="1060704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17136"/>
            <a:ext cx="82296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0857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Hiragino Sans GB"/>
                <a:ea typeface="Hiragino Sans GB"/>
              </a:rPr>
              <a:t>评分对齐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626864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对照官方 12 观测点逐条给证据锚点 · 30 秒速览供快速评审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自评 99.9/100：不是因为完美，而是因为敢于把不完美写出来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两处各留 0.05 分边界缺口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Hoefler Text"/>
                <a:ea typeface="Hoefler Text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Ma Shan Zheng"/>
                <a:ea typeface="Ma Shan Zheng"/>
              </a:rPr>
              <a:t>结语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334155"/>
                </a:solidFill>
                <a:latin typeface="Hiragino Sans GB"/>
                <a:ea typeface="Hiragino Sans GB"/>
              </a:rPr>
              <a:t>让每一名学生在真金白银之前，先在虚拟仿真沙盘上亲历一次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334155"/>
                </a:solidFill>
                <a:latin typeface="Hiragino Sans GB"/>
                <a:ea typeface="Hiragino Sans GB"/>
              </a:rPr>
              <a:t>「预测力 ≠ 盈利能力」的教训，带走一套可验证、可复核、可追溯的决策纪律。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Hoefler Text"/>
                <a:ea typeface="Hoefler Text"/>
              </a:rPr>
              <a:t>AI 是外骨骼，扣动扳机的必须是懂风险预算的人。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Hiragino Sans GB"/>
                <a:ea typeface="Hiragino Sans GB"/>
              </a:rPr>
              <a:t>感谢各位评委老师的聆听与指正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选股信号该配多大仓位？——虚拟仿真下的风险预算干预实验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</a:rPr>
              <a:t>虚拟仿真实验 · 教学演示，不构成投资建议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