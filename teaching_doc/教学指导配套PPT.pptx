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Hiragino Sans GB"/>
                <a:ea typeface="Hiragino Sans GB"/>
              </a:rPr>
              <a:t>智享杯 · 全国大学生经济管理类实验案例分析大赛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Hiragino Sans GB"/>
                <a:ea typeface="Hiragino Sans GB"/>
              </a:rPr>
              <a:t>AI 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iragino Sans GB"/>
                <a:ea typeface="Hiragino Sans GB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在线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适用课程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投资学 / 量化投资 / 金融风险管理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实验形态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平台在线 Notebook 虚拟仿真实验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配套材料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教学指导文档 · 代码与数据（种子固定）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教学指导配套 PPT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虚拟仿真实验 · 教学演示，不构成投资建议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Hiragino Sans GB"/>
                <a:ea typeface="Hiragino Sans GB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目录 · 四幕结构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一份把「AI 投研信号」与「仓位决策训练」融合起来的实验教学案例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2563EB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三个真问题 · 为什么必须虚拟仿真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0B981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真实行情沙盘 · 透明信号 · 三组仓位规则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544068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F97316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结果与发现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成本之税 · 校准失灵 · 保险定价 · 干预线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44068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7C3AED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教学组织与评价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分层任务 · 典型错误引导 · 四维量规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FF6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Hiragino Sans GB"/>
                <a:ea typeface="Hiragino Sans GB"/>
              </a:rPr>
              <a:t>BACKGROUND &amp;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三个真问题：AI 说了买，该买多少？亏了谁来管？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预测力 ≠ 盈利能力：分水岭在仓位规则与交易成本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真实公开行情 + 透明模拟信号 = 可控而复杂的实验沙盘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04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01 · 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三个真问题：AI 投研链条上被忽视的「最后一厘米」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AI 说「买」，仓位该给多少？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每日数百条看多/看空观点与置信度，信号到仓位的转化全靠交易员手感，缺乏可训练、可考核的实验环境。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965960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99" y="2212848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1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高置信度信号，值得重仓吗？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965960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1" y="221284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1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3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1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回撤触线时，谁来扣扳机？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1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信号「准不准」已被讨论很多，信号「配多少」才是直接决定损益的环节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教仓位决策 = 教风险预算官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01 · 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为什么必须虚拟仿真：真实行情沙盘 × 透明信号注入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培训规范要求「取材现实、数据有出处」——行情真实可核验，信号透明可复现，二者结合才构成完整沙盘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真实行情（出处明确）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28 只沪深大盘蓝筹 · 410 个交易日（2024-01-02 至 2025-10-28）前复权收盘价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来源：腾讯财经公开行情接口，任何学生可随时重新下载核验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覆盖金融/消费/能源/制造/科技，含完整牛熊波动结构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透明信号（种子固定）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同一行情上蒙特卡洛注入 6910 条买/卖信号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方向命中率 55% 假设（实测 53.95%），种子 20261029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置信度与真实超额幅度正相关 + 噪声；生成规则完全公开，复跑逐字节一致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7550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Hiragino Sans GB"/>
                <a:ea typeface="Hiragino Sans GB"/>
              </a:rPr>
              <a:t>教学定位：训练「仓位决策」能力而非复刻某段行情——真实行情保证环境复杂性，透明信号保证实验可控性。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数据有出处是规范性得分点，信号有种子是可复现得分点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真实为体 · 透明为用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CFDF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Hiragino Sans GB"/>
                <a:ea typeface="Hiragino Sans GB"/>
              </a:rPr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实验设计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冻结同一组 AI 信号，只变动「信号→仓位」的转化规则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三组规则对照：满仓等权 / 置信度分档 / 1/4 凯利+回撤干预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统一硬约束：5bp 单边成本 · 6% 回撤预算 · 20% 个股上限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07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实验环境：平台在线 Notebook，打开即跑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案例正文、数据集、代码、运行结果一体化，学生零安装配置</a:t>
            </a:r>
          </a:p>
        </p:txBody>
      </p:sp>
      <p:pic>
        <p:nvPicPr>
          <p:cNvPr id="8" name="Picture 7" descr="截图_正文_顶部摘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972061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783080"/>
            <a:ext cx="2972061" cy="3611880"/>
          </a:xfrm>
          <a:prstGeom prst="rect">
            <a:avLst/>
          </a:prstGeom>
          <a:noFill/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</a:rPr>
              <a:t>平台案例正文实拍 · 在线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828800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一体化载体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实验说明、数据文件、代码单元、运行结果与报告要求全部集成在一个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35808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03580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云端运行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930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学生登录即获独立实验环境，预置数据分析工具与依赖，减少本地安装干扰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42816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424281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3616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70001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全部表格与图形由代码单元真实运行生成，无任何手工录入数字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评审最关注「方案可比较、过程可追溯」——每个数字都能一键重跑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环境即教具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受控对照实验：信号冻结，只变仓位规则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A 对照组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满仓等权（无风险预算）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有信号即 100% 等权持有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</a:rPr>
              <a:t>角色：「All in」的直觉做法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B 实验组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置信度分档固定分数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≥0.7 配 3 成；0.55–0.7 配 2 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1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角色：把置信度直接映射为仓位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1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C 实验组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1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样本内估凯利分数×1/4；触 -6% 线仓位减半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1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3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角色：定量风险预算 + 主动干预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97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三组共用硬约束：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单一标的上限 20% · 总仓位上限 100% · 单边交易成本 5bp · 最大回撤预算 -6%（违反即方案无效）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任何参数不得使用样本外信息：前 70% 估计，后 30% 检验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机制的可解释性优先于结果的漂亮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信号诊断：置信度存在系统性过度自信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置信度均值 0.871，但各桶真实命中率 50.9%–58.3% 且毫无单调性——这是实验组设计的直接依据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6675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置信度桶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信号数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方向命中率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[0.5, 0.6)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[0.6, 0.7)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709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50.9%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[0.7, 0.8)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[0.8, 0.9)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712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54.1%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[0.9, 1.0)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4214（占61%）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965960"/>
            <a:ext cx="411480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41148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213055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两个层次的同时失真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569464"/>
            <a:ext cx="3712464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① 绝对失真：均值 0.871 vs 真实命中 54%——整体过度自信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② 排序失灵：命中率最高的反而是 [0.5,0.6) 桶——置信度分档没有区分度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4114800" cy="11887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Hiragino Sans GB"/>
                <a:ea typeface="Hiragino Sans GB"/>
              </a:rPr>
              <a:t>结论：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置信度只能作参考输入，须经凯利打折与硬约束双重衰减——实验组 B 将验证这一点。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AI 的置信度不是仓位权重：未经验证的自信会放大为敞口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先校准，再分配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FF7ED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97316"/>
                </a:solidFill>
                <a:latin typeface="Hiragino Sans GB"/>
                <a:ea typeface="Hiragino Sans GB"/>
              </a:rPr>
              <a:t>FINDINGS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结果与发现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满仓组的成本之税：年化拖累 8.8%，风险预算组仅 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样本外反转揭示保险的定价：看得见的机会成本，看不见的防御价值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反事实检验：同时报告「移除干预」的不利情形，拒绝选择性报告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11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全样本对照：同样的信号，完全不同的持有体验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410 个交易日 · 三组共用同一信号与硬约束 · 绩效差异全部归因于仓位规则</a:t>
            </a:r>
          </a:p>
        </p:txBody>
      </p:sp>
      <p:pic>
        <p:nvPicPr>
          <p:cNvPr id="8" name="Picture 7" descr="ppt_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5143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920240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Hiragino Sans GB"/>
                <a:ea typeface="Hiragino Sans GB"/>
              </a:rPr>
              <a:t>23.2% → 18.6%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满仓组 vs 风险预算组 累计收益：约 4.6 个百分点的「保费」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127248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127248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218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iragino Sans GB"/>
                <a:ea typeface="Hiragino Sans GB"/>
              </a:rPr>
              <a:t>-12.4% → -9.3%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027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最大回撤被压缩 3.1 个百分点，卡玛 1.11 → 1.19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34256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433425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4256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Hiragino Sans GB"/>
                <a:ea typeface="Hiragino Sans GB"/>
              </a:rPr>
              <a:t>0.70 → 0.34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80974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日均单边换手腰斩——省下的成本就是超额收益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集中不等于低风险：凯利组波动未降，风险预算的价值要用回撤与成本衡量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怎么买，比买什么更影响体验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交易成本是仓位规则的隐形税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5bp 看似微小，但满仓组日均换手 0.70——年化成本拖累 8.8 个百分点，足以吞掉微弱的预测力</a:t>
            </a:r>
          </a:p>
        </p:txBody>
      </p:sp>
      <p:pic>
        <p:nvPicPr>
          <p:cNvPr id="8" name="Picture 7" descr="ppt_fig2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25666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教学要点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满仓组年化成本拖累 8.8%，风险预算组仅 4.3%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样本外上行段换手升至 0.91，拖累 11.4%——高频调仓的成本随行情放大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任何「预测很强」的信号，必须先过成本这一关才能变成收益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不做成本扣除的回测没有讨论价值（典型错误引导之一）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方向命中率 54% 的信号，在成本面前没有犯错的余地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先算成本，再谈预测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样本外检验：风险预算是「有价格的保险」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后 30% 样本恰为蓝筹上行段——满仓组年化 41.3% vs 风险预算组 13.5%，但回撤 -4.1% vs -2.5%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F43F5E"/>
                </a:solidFill>
                <a:latin typeface="Hiragino Sans GB"/>
                <a:ea typeface="Hiragino Sans GB"/>
              </a:rPr>
              <a:t>年化 41.3%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</a:rPr>
              <a:t>夏普 2.71    最大回撤 -4.1%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日均换手 0.91 · 成本拖累 11.4%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10B981"/>
                </a:solidFill>
                <a:latin typeface="Hiragino Sans GB"/>
                <a:ea typeface="Hiragino Sans GB"/>
              </a:rPr>
              <a:t>年化 13.5%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</a:rPr>
              <a:t>夏普 1.56    最大回撤 -2.5%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日均换手 0.38 · 成本拖累 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109960" cy="56692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97316"/>
                </a:solidFill>
                <a:latin typeface="Hiragino Sans GB"/>
                <a:ea typeface="Hiragino Sans GB"/>
              </a:rPr>
              <a:t>这不是实验失败：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保险的机会成本在平安时期「看得见」，防御价值在回撤时期才兑现——只看一个区间下结论，正是本案例要治的病。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样本外子区间 C 组落后 ≠ 风险预算失败：用保险定价的逻辑辩护或批评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用两个区间说话，而不是一个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敏感性与反事实：干预的价值随仓位规模显现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凯利缩放 1/8 → 满仓 × 干预有无（无干预=反事实）：同一策略、同一数据，差异全部归因于干预机制</a:t>
            </a:r>
          </a:p>
        </p:txBody>
      </p:sp>
      <p:pic>
        <p:nvPicPr>
          <p:cNvPr id="8" name="Picture 7" descr="ppt_fig3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30250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三个梯度结论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1/8 凯利：仓位本轻，干预与否完全相同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1/2 凯利：干预把回撤从 -15.9% 压到 -12.3%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满仓凯利：无干预回撤 -15.7%，干预压回 -12.6%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但干预不是免费的：1/4 档收益 22.7%→18.6% 而回撤未变——预算线对轻仓位太松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仓位规模 × 干预线要成对设计：只调一个是新手做法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保费要与敞口匹配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回撤预算线设在哪里？—— 干预线敏感性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固定 1/4 凯利，只移动预算线：-3% / -6% / -9%（全样本）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-3% 预算线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0B981"/>
                </a:solidFill>
                <a:latin typeface="Hiragino Sans GB"/>
                <a:ea typeface="Hiragino Sans GB"/>
              </a:rPr>
              <a:t>卡玛比率 1.49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干预频繁、换手更高，把回撤真正压住了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-6% 预算线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Hiragino Sans GB"/>
                <a:ea typeface="Hiragino Sans GB"/>
              </a:rPr>
              <a:t>卡玛比率 1.19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触线即减半的软干预未能把回撤压进预算——留作改进作业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1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-9% 预算线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1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4748B"/>
                </a:solidFill>
                <a:latin typeface="Hiragino Sans GB"/>
                <a:ea typeface="Hiragino Sans GB"/>
              </a:rPr>
              <a:t>卡玛比率 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1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触发太少，干预机制名存实亡——太松等于没有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干预线不是越紧越好：正确的问题是「线的位置与仓位规模是否匹配」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成对设计，协同调参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5F3FF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Hiragino Sans GB"/>
                <a:ea typeface="Hiragino Sans GB"/>
              </a:rPr>
              <a:t>TEACHING &amp;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教学组织与评价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分层任务：基础必做 / 进阶选做 / 挑战任务，结果不唯一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典型错误引导：前视偏差 · 忽略成本 · 样本内偷看 · 选择性报告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四维评价量规：过程可追溯 · 解释合理性 · 实验完整性 · 报告规范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17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分层任务设计：每个学生都有可到达的「最近发展区」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必做保底、选做分层、挑战拔尖——实验结果不唯一，干预规则的设计空间向学生开放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基础任务（必做）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改进干预机制：替换「触线减半」，重跑全部实验并用数据论证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完整复现：从数据生成到结论一键重跑，验证与案例报告一致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874519"/>
            <a:ext cx="361188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1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进阶任务（选做）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把信号命中率降到 50%（无预测力）重做实验，解释为何风险预算组相对抗跌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以卡玛比率为目标在（凯利缩放×预算线）网格上搜索，讨论是否过拟合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874519"/>
            <a:ext cx="3611880" cy="4389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挑战任务（拔尖）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1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接入真实公开信号源（或自研大模型信号）在相同规则下重跑，分解「信号质量」与「仓位规则」各自的绩效贡献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开放的干预规则设计空间 = 「结果不唯一」的评审要求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人人有得做，拔尖有挑战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典型错误引导：实验前必读的四个坑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每个坑都给出「错误现象 → 为什么错 → 如何自查」的三段式排查路径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1：前视偏差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信号在 t 日收盘后生成，只能作用于 t+1 及以后收益；直接对齐 t 日收益会让所有策略虚高。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检查信号生效时间是否对齐到「收盘后」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2：忽略成本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5bp 很小，但满仓组年化拖累 8.8 个百分点——不做成本扣除的回测没有讨论价值。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核对回测引擎是否在换仓日扣除换手×5bp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3：样本内偷看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用全样本估计凯利分数等于偷看答案，样本外检验形同虚设。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确认所有参数只使用前 70% 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4：选择性报告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只展示「干预有效」的情形是评审最反感的做法。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同时报告反事实（移除干预）结果并讨论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把坑写进指导手册，是把「翻车点」变成「教学点」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错误是最好的教具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四维评价量规：重过程、重解释，不重收益率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评分侧重「过程可追溯」与「解释合理性」——高收益不加分，不可复现扣大分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91840"/>
                <a:gridCol w="292608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维度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权重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优（90–100）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合格（60–75）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不合格（&lt;60）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过程可追溯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每个数字可由代码一键复现，随机种子与参数全记录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主体可复现，个别参数缺失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结果无法重现或依赖手工录入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解释合理性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结论与证据严格匹配，主动讨论反事实与局限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结论基本有据，局限讨论薄弱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结论脱离数据或回避不利证据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实验完整性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对照+样本外+敏感性+反事实四件套齐全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缺一项但有替代论证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仅单一区间或单一参数下结论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报告规范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结构完整、图表清晰、匿名合规、口径一致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结构完整但图表粗糙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缺环节或出现身份信息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量规先行发布：学生知道怎么被评，才知道怎么学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评过程，不评运气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-10972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82296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Hiragino Sans GB"/>
                <a:ea typeface="Hiragino Sans GB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Hiragino Sans GB"/>
                <a:ea typeface="Hiragino Sans GB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0">
                <a:solidFill>
                  <a:srgbClr val="CBD5E1"/>
                </a:solidFill>
                <a:latin typeface="Hiragino Sans GB"/>
                <a:ea typeface="Hiragino Sans GB"/>
              </a:rPr>
              <a:t>让每一名学生在真金白银之前，先在虚拟仿真沙盘上亲历一次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Hiragino Sans GB"/>
                <a:ea typeface="Hiragino Sans GB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3484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iragino Sans GB"/>
                <a:ea typeface="Hiragino Sans GB"/>
              </a:rPr>
              <a:t>AI 是外骨骼，扣动扳机的必须是懂风险预算的人。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iragino Sans GB"/>
                <a:ea typeface="Hiragino Sans GB"/>
              </a:rPr>
              <a:t>感谢各位评委老师的聆听与指正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